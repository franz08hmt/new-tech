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15 giây. “ExaMate giúp sinh viên quản lý việc học, hỏi đáp trên tài liệu có dẫn nguồn và luyện tập từ nội dung có cấu trúc. Hai capability nhóm trình bày là A và C.” Không nhận B có ba LLM-called tools. Không tự nói đã đạt rubric.</a:t>
            </a:r>
          </a:p>
          <a:p/>
          <a:p>
            <a:r>
              <a:t>Tuyến 8 phút: 1–3 → 5 → demo web → 10 → 12. Các trang khác để minh họa hoặc vấn đáp. DRAFT vì so sánh evaluation chưa đủ và còn xác nhận cá nhân.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10–15 giây. Tài liệu rải rác, câu trả lời khó kiểm nguồn, đầu ra AI chưa có chỗ luyện tập: nhóm nối thành một luồng. Ảnh là bản dùng Supabase thật đã chụp trước đó, không phải output Gemini mới. Courses hiện đọc, Tasks chưa có xóa; không nói mọi module đầy đủ CRUD.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25–30 giây. React gọi Nest qua proxy; backend giữ key, xác minh quyền trước SQL/file/AI. Supabase không thay toàn bộ business logic. Gemini phục vụ embedding/generation; Whisper chạy trên API host local, không phải browser. Không giữ DB transaction lúc chờ provider. Tài bổ sung Auth/RLS hiện tại nếu hỏi sâu.</a:t>
            </a:r>
          </a:p>
          <a:p/>
          <a:p>
            <a:r>
              <a:t>Thắng có phần nền backend/Supabase và Gemini ban đầu; Tài phát triển/tích hợp tiếp Auth/RLS, RAG và managed deployment. Không gán toàn bộ backend hiện tại cho một commit cũ.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Trang hỗ trợ giải thích. Chunk target 1200, max 1800, overlap 200 ký tự, page-bounded. Embedding không tạo answer. Tài liệu Ready không bảo đảm mọi trang trích xuất tốt. Citation hợp lệ về ID/page không chứng minh claim được nguồn hỗ trợ.</a:t>
            </a:r>
          </a:p>
          <a:p/>
          <a:p>
            <a:r>
              <a:t>Ảnh integration lịch sử: Nest/PDF.js/retrieval/PG17 thật; Auth upstream, Storage và provider tổng hợp. Minh họa PDF trang 3, không chứng minh chất lượng Gemini. Xem figure-provenance.json.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THẮNG → TÀI · Chuyển sang web. Tài task/RAG, Thắng SSE/STT, Tài Study Coach. Kịch bản chi tiết trong DEMO-AND-DEFENSE.md. Chọn os-processes-demo.pdf Ready; đối chiếu trang 3. Câu ngoài tài liệu: “Ai đã vẽ bức Mona Lisa?”. Không đọc đáp án soạn trước nếu output thực tế khác.</a:t>
            </a:r>
          </a:p>
          <a:p/>
          <a:p>
            <a:r>
              <a:t>Generation chỉ khi ngân sách/provider cho phép, không bấm lại khi lỗi. Nếu mở quiz đã lưu, nói rõ là bản lưu. Không mở .env, cookie hoặc credential. Trong 8 phút không cần chiếu hết 14 trang; slide này giữ làm điểm chuyển sang browser.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Preview chưa là bộ được xác nhận; draft server đã validate có token, hết hạn 15 phút. Nguồn phải thuộc evidence. Khi nộp quiz, server chấm từ snapshot, không tin score client. Flashcards remembered/needs_review là tự đánh giá. Confirm/attempt/review có idempotency và recovery; không gọi lại AI để cứu lỗi lưu.</a:t>
            </a:r>
          </a:p>
          <a:p/>
          <a:p>
            <a:r>
              <a:t>Ảnh 3/3 là integration dùng provider tổng hợp, server/DB thật; không phải benchmark chất lượng Gemini ra đề. Demo nội dung thực tế, không đọc điểm cố định.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THẮNG · Cho thấy general phát dần, Stop; STT ghi ngắn, sửa/chèn, không tự gửi. Luồng MediaRecorder → API → ffprobe/FFmpeg → mono 16 kHz → Whisper small ONNX CPU/q8. Window 30 giây, stride 5 giây để bao phủ audio dài trong giới hạn. Audio tới API host local, không gửi Gemini trong STT; nếu sau đó gửi transcript hỏi AI thì text đi theo chat contract.</a:t>
            </a:r>
          </a:p>
          <a:p/>
          <a:p>
            <a:r>
              <a:t>SSE dùng fetch POST/ReadableStream, parser chịu frame và UTF-8 bị chia, nginx không buffering, có backpressure/cancel. Stop không bảo đảm upstream chưa tính phí. Deadline bản cuối là chỉnh sửa tích hợp sau code STT gốc. Chỉ demo micro sau khi tự thử ổn; English fixture/readiness không chứng minh accuracy tiếng Việt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THẮNG · Không chỉ ẩn nút viewer; backend kiểm quyền, manager không đọc quiz/hội thoại cá nhân người khác. COMMIT có thể xong nhưng mất response: giữ key/payload, confirm unknown GET trước write tiếp, attempt/review retry cùng key. Không tự tạo lượt mới hoặc gọi AI lại.</a:t>
            </a:r>
          </a:p>
          <a:p/>
          <a:p>
            <a:r>
              <a:t>Injection là dữ liệu không tin cậy; prompt/citation giảm rủi ro, không bảo đảm miễn nhiễm. Hai case thiếu trace giữ INCONCLUSIVE. Không đổi key sai hoặc cố hết quota để dựng lỗi. Chỉ nói lỗi đang xảy ra khi quan sát thật; ảnh/log cũ phải ghi là bằng chứng trước đó.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2324/521 là publication trước, không phải chạy lại khi tạo slide. Phân biệt browser synthetic với cloud real. Backend/PG thật không biến synthetic model thành Gemini. Google/Docker/HTTP thật có evidence riêng; chưa nghiệm thu toàn bộ browser matrix. Nguồn report-evidence.json.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25 giây cuối demo. Giữ mẫu số 20 và phân biệt provider error với semantic FAIL. Chưa đủ mẫu sau để kết luận cải thiện. Không sửa gold sau output. Baseline 15 strict PASS/3 FAIL/2 INCONCLUSIVE; semantic-content 18/20 là thước đo khác.</a:t>
            </a:r>
          </a:p>
          <a:p/>
          <a:p>
            <a:r>
              <a:t>Corpus synthetic ASCII minh họa, không phải rubric hay quy định thật. Injection thiếu exact context vẫn INCONCLUSIVE. Reviewer AI theo ủy quyền, không giả human review/chữ ký Tài–Thắng. Chart lấy số từ report-evidence.json, không thay đổi gold.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Dùng nếu thầy hỏi số liệu. Operation latency khác provider latency/TTFT. Mẫu 20 không chứng minh SLA. Known cost chỉ generation có usage; không cộng embedding/error thiếu usage thành 0. Campaign upper used/reserved là dự trù bảo thủ, không phải hóa đơn hay Google hard cap. Probe model khác không ghép denominator đánh giá chất lượng.</a:t>
            </a:r>
          </a:p>
          <a:p/>
          <a:p>
            <a:r>
              <a:t>Nguồn report-evidence.json. Không đọc số dashboard tổng hiện tại thành baseline. Không gọi mới model chỉ để cập nhật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HAI · 15–20 giây kết. Tài chốt RAG/Study Coach; Thắng chốt backend ban đầu/SSE/STT. Ownership theo nội dung Git, không tính phần trăm công sức bằng số commit. Thắng có b4ce829, d2ca5ca, 917edc7, b988e26, 2249abf; deadline/hardening có tích hợp sau. Chỉ nhận phần thực sự làm và hiểu, không bịa lý do commit ít.</a:t>
            </a:r>
          </a:p>
          <a:p/>
          <a:p>
            <a:r>
              <a:t>Không tự kết luận rubric passed hoặc full F08/F09 accepted; không TTS/third LLM tool. Xác nhận cá nhân do chính người đó nói. Sẵn sàng mở code, không mở credential.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 Chỉ mở nếu hỏi FE. State ảnh hưởng render; ref giữ revision mà không tự render; effect cleanup hủy request/listener. A về sau B không đè B. Query mới page 1 từ request đầu, không tải full list rồi slice. UI gating không thay backend authorization. Dùng hash navigation, không nói React Router. Chỉ một test stale-response hoặc attempt unknown để giải thích cụ thể.</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HAI · Backup vấn đáp. Tài mở RAG/Study Coach/Auth/controls; Thắng mở STT/SSE. Code trong apps/api/src/{documents,assistant,study-coach,speech,auth} và apps/web/src. Xem DEMO-AND-DEFENSE.md: 17 câu Tài, 19 câu Thắng, có ý trả lời.</a:t>
            </a:r>
          </a:p>
          <a:p/>
          <a:p>
            <a:r>
              <a:t>Chọn lỗi AI mình hiểu: evaluator PASS khi thiếu output hoặc executor tin binding mutable. Giải thích oracle RED→GREEN; không nhận test cũ là vừa chạy. Hai slide backup không phải phần cần đọc trong 8 phút.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127.0.0.1:808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D29"/>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D2E58B"/>
                </a:solidFill>
                <a:latin typeface="Arial"/>
              </a:rPr>
              <a:t>NEW TECHNOLOGIES / PROJECT DEFENSE</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D2E58B"/>
                </a:solidFill>
                <a:latin typeface="Arial"/>
              </a:rPr>
              <a:t>TÀI</a:t>
            </a:r>
          </a:p>
        </p:txBody>
      </p:sp>
      <p:cxnSp>
        <p:nvCxnSpPr>
          <p:cNvPr id="4" name="Connector 3"/>
          <p:cNvCxnSpPr/>
          <p:nvPr/>
        </p:nvCxnSpPr>
        <p:spPr>
          <a:xfrm>
            <a:off x="482600" y="6311900"/>
            <a:ext cx="11226800" cy="0"/>
          </a:xfrm>
          <a:prstGeom prst="line">
            <a:avLst/>
          </a:prstGeom>
          <a:ln w="15240">
            <a:solidFill>
              <a:srgbClr val="335D4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E6EDDF"/>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E6EDDF"/>
                </a:solidFill>
                <a:latin typeface="Arial"/>
              </a:rPr>
              <a:t>01 / 14</a:t>
            </a:r>
          </a:p>
        </p:txBody>
      </p:sp>
      <p:sp>
        <p:nvSpPr>
          <p:cNvPr id="7" name="Rounded Rectangle 6"/>
          <p:cNvSpPr/>
          <p:nvPr/>
        </p:nvSpPr>
        <p:spPr>
          <a:xfrm>
            <a:off x="508000" y="1397000"/>
            <a:ext cx="2743200" cy="3810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1485900"/>
            <a:ext cx="2438400" cy="254000"/>
          </a:xfrm>
          <a:prstGeom prst="rect">
            <a:avLst/>
          </a:prstGeom>
          <a:noFill/>
        </p:spPr>
        <p:txBody>
          <a:bodyPr wrap="none" lIns="0" rIns="0" tIns="0" bIns="0" anchor="t">
            <a:spAutoFit/>
          </a:bodyPr>
          <a:lstStyle/>
          <a:p>
            <a:pPr algn="l">
              <a:lnSpc>
                <a:spcPts val="1276"/>
              </a:lnSpc>
              <a:spcBef>
                <a:spcPts val="0"/>
              </a:spcBef>
              <a:spcAft>
                <a:spcPts val="0"/>
              </a:spcAft>
            </a:pPr>
            <a:r>
              <a:rPr sz="1100" b="1">
                <a:solidFill>
                  <a:srgbClr val="FFFFFF"/>
                </a:solidFill>
                <a:latin typeface="Arial"/>
              </a:rPr>
              <a:t>AI academic workspace</a:t>
            </a:r>
          </a:p>
        </p:txBody>
      </p:sp>
      <p:sp>
        <p:nvSpPr>
          <p:cNvPr id="9" name="TextBox 8"/>
          <p:cNvSpPr txBox="1"/>
          <p:nvPr/>
        </p:nvSpPr>
        <p:spPr>
          <a:xfrm>
            <a:off x="482600" y="2133600"/>
            <a:ext cx="5842000" cy="1143000"/>
          </a:xfrm>
          <a:prstGeom prst="rect">
            <a:avLst/>
          </a:prstGeom>
          <a:noFill/>
        </p:spPr>
        <p:txBody>
          <a:bodyPr wrap="none" lIns="0" rIns="0" tIns="0" bIns="0" anchor="t">
            <a:spAutoFit/>
          </a:bodyPr>
          <a:lstStyle/>
          <a:p>
            <a:pPr algn="l">
              <a:lnSpc>
                <a:spcPts val="8003"/>
              </a:lnSpc>
              <a:spcBef>
                <a:spcPts val="0"/>
              </a:spcBef>
              <a:spcAft>
                <a:spcPts val="0"/>
              </a:spcAft>
            </a:pPr>
            <a:r>
              <a:rPr sz="6900" b="0">
                <a:solidFill>
                  <a:srgbClr val="FFFFFF"/>
                </a:solidFill>
                <a:latin typeface="Georgia"/>
              </a:rPr>
              <a:t>ExaMate</a:t>
            </a:r>
          </a:p>
        </p:txBody>
      </p:sp>
      <p:sp>
        <p:nvSpPr>
          <p:cNvPr id="10" name="TextBox 9"/>
          <p:cNvSpPr txBox="1"/>
          <p:nvPr/>
        </p:nvSpPr>
        <p:spPr>
          <a:xfrm>
            <a:off x="533400" y="3429000"/>
            <a:ext cx="4889500" cy="965200"/>
          </a:xfrm>
          <a:prstGeom prst="rect">
            <a:avLst/>
          </a:prstGeom>
          <a:noFill/>
        </p:spPr>
        <p:txBody>
          <a:bodyPr wrap="none" lIns="0" rIns="0" tIns="0" bIns="0" anchor="t">
            <a:spAutoFit/>
          </a:bodyPr>
          <a:lstStyle/>
          <a:p>
            <a:pPr algn="l">
              <a:lnSpc>
                <a:spcPts val="2899"/>
              </a:lnSpc>
              <a:spcBef>
                <a:spcPts val="0"/>
              </a:spcBef>
              <a:spcAft>
                <a:spcPts val="0"/>
              </a:spcAft>
            </a:pPr>
            <a:r>
              <a:rPr sz="2500" b="0">
                <a:solidFill>
                  <a:srgbClr val="E6EDDF"/>
                </a:solidFill>
                <a:latin typeface="Arial"/>
              </a:rPr>
              <a:t>Study from your sources. Verify</a:t>
            </a:r>
            <a:br/>
            <a:r>
              <a:rPr sz="2500" b="0">
                <a:solidFill>
                  <a:srgbClr val="E6EDDF"/>
                </a:solidFill>
                <a:latin typeface="Arial"/>
              </a:rPr>
              <a:t>what AI says.</a:t>
            </a:r>
          </a:p>
        </p:txBody>
      </p:sp>
      <p:sp>
        <p:nvSpPr>
          <p:cNvPr id="11" name="Rounded Rectangle 10"/>
          <p:cNvSpPr/>
          <p:nvPr/>
        </p:nvSpPr>
        <p:spPr>
          <a:xfrm>
            <a:off x="533400" y="4699000"/>
            <a:ext cx="3048000" cy="3810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787900"/>
            <a:ext cx="2743200" cy="254000"/>
          </a:xfrm>
          <a:prstGeom prst="rect">
            <a:avLst/>
          </a:prstGeom>
          <a:noFill/>
        </p:spPr>
        <p:txBody>
          <a:bodyPr wrap="none" lIns="0" rIns="0" tIns="0" bIns="0" anchor="t">
            <a:spAutoFit/>
          </a:bodyPr>
          <a:lstStyle/>
          <a:p>
            <a:pPr algn="l">
              <a:lnSpc>
                <a:spcPts val="1276"/>
              </a:lnSpc>
              <a:spcBef>
                <a:spcPts val="0"/>
              </a:spcBef>
              <a:spcAft>
                <a:spcPts val="0"/>
              </a:spcAft>
            </a:pPr>
            <a:r>
              <a:rPr sz="1100" b="1">
                <a:solidFill>
                  <a:srgbClr val="FFFFFF"/>
                </a:solidFill>
                <a:latin typeface="Arial"/>
              </a:rPr>
              <a:t>A · Grounded document Q&amp;A</a:t>
            </a:r>
          </a:p>
        </p:txBody>
      </p:sp>
      <p:sp>
        <p:nvSpPr>
          <p:cNvPr id="13" name="Rounded Rectangle 12"/>
          <p:cNvSpPr/>
          <p:nvPr/>
        </p:nvSpPr>
        <p:spPr>
          <a:xfrm>
            <a:off x="533400" y="5219700"/>
            <a:ext cx="3251200" cy="3810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308600"/>
            <a:ext cx="2946400" cy="254000"/>
          </a:xfrm>
          <a:prstGeom prst="rect">
            <a:avLst/>
          </a:prstGeom>
          <a:noFill/>
        </p:spPr>
        <p:txBody>
          <a:bodyPr wrap="none" lIns="0" rIns="0" tIns="0" bIns="0" anchor="t">
            <a:spAutoFit/>
          </a:bodyPr>
          <a:lstStyle/>
          <a:p>
            <a:pPr algn="l">
              <a:lnSpc>
                <a:spcPts val="1276"/>
              </a:lnSpc>
              <a:spcBef>
                <a:spcPts val="0"/>
              </a:spcBef>
              <a:spcAft>
                <a:spcPts val="0"/>
              </a:spcAft>
            </a:pPr>
            <a:r>
              <a:rPr sz="1100" b="1">
                <a:solidFill>
                  <a:srgbClr val="FFFFFF"/>
                </a:solidFill>
                <a:latin typeface="Arial"/>
              </a:rPr>
              <a:t>C · Structured study practice</a:t>
            </a:r>
          </a:p>
        </p:txBody>
      </p:sp>
      <p:sp>
        <p:nvSpPr>
          <p:cNvPr id="15" name="Rounded Rectangle 14"/>
          <p:cNvSpPr/>
          <p:nvPr/>
        </p:nvSpPr>
        <p:spPr>
          <a:xfrm>
            <a:off x="6108700" y="1778000"/>
            <a:ext cx="5600700" cy="34671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ashboard.jpg"/>
          <p:cNvPicPr>
            <a:picLocks noChangeAspect="1"/>
          </p:cNvPicPr>
          <p:nvPr/>
        </p:nvPicPr>
        <p:blipFill>
          <a:blip r:embed="rId3"/>
          <a:stretch>
            <a:fillRect/>
          </a:stretch>
        </p:blipFill>
        <p:spPr>
          <a:xfrm>
            <a:off x="6235700" y="2006866"/>
            <a:ext cx="5346700" cy="3009367"/>
          </a:xfrm>
          <a:prstGeom prst="rect">
            <a:avLst/>
          </a:prstGeom>
        </p:spPr>
      </p:pic>
      <p:sp>
        <p:nvSpPr>
          <p:cNvPr id="17" name="TextBox 16"/>
          <p:cNvSpPr txBox="1"/>
          <p:nvPr/>
        </p:nvSpPr>
        <p:spPr>
          <a:xfrm>
            <a:off x="6223000" y="5384800"/>
            <a:ext cx="5334000" cy="457200"/>
          </a:xfrm>
          <a:prstGeom prst="rect">
            <a:avLst/>
          </a:prstGeom>
          <a:noFill/>
        </p:spPr>
        <p:txBody>
          <a:bodyPr wrap="none" lIns="0" rIns="0" tIns="0" bIns="0" anchor="t">
            <a:spAutoFit/>
          </a:bodyPr>
          <a:lstStyle/>
          <a:p>
            <a:pPr algn="l">
              <a:lnSpc>
                <a:spcPts val="1391"/>
              </a:lnSpc>
              <a:spcBef>
                <a:spcPts val="0"/>
              </a:spcBef>
              <a:spcAft>
                <a:spcPts val="0"/>
              </a:spcAft>
            </a:pPr>
            <a:r>
              <a:rPr sz="1200" b="0">
                <a:solidFill>
                  <a:srgbClr val="E6EDDF"/>
                </a:solidFill>
                <a:latin typeface="Arial"/>
              </a:rPr>
              <a:t>Tài + Thắng · New Technologies in Software Engineering ·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PROBLEM / PRODUCT</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02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944"/>
              </a:lnSpc>
              <a:spcBef>
                <a:spcPts val="0"/>
              </a:spcBef>
              <a:spcAft>
                <a:spcPts val="0"/>
              </a:spcAft>
            </a:pPr>
            <a:r>
              <a:rPr sz="3400" b="0">
                <a:solidFill>
                  <a:srgbClr val="18372F"/>
                </a:solidFill>
                <a:latin typeface="Georgia"/>
              </a:rPr>
              <a:t>From scattered files to a study loop</a:t>
            </a:r>
          </a:p>
        </p:txBody>
      </p:sp>
      <p:sp>
        <p:nvSpPr>
          <p:cNvPr id="8" name="Rounded Rectangle 7"/>
          <p:cNvSpPr/>
          <p:nvPr/>
        </p:nvSpPr>
        <p:spPr>
          <a:xfrm>
            <a:off x="482600" y="1968500"/>
            <a:ext cx="3733800" cy="1092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21209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01</a:t>
            </a:r>
          </a:p>
        </p:txBody>
      </p:sp>
      <p:sp>
        <p:nvSpPr>
          <p:cNvPr id="10" name="TextBox 9"/>
          <p:cNvSpPr txBox="1"/>
          <p:nvPr/>
        </p:nvSpPr>
        <p:spPr>
          <a:xfrm>
            <a:off x="1117600" y="2095500"/>
            <a:ext cx="292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Organize</a:t>
            </a:r>
          </a:p>
        </p:txBody>
      </p:sp>
      <p:sp>
        <p:nvSpPr>
          <p:cNvPr id="11" name="TextBox 10"/>
          <p:cNvSpPr txBox="1"/>
          <p:nvPr/>
        </p:nvSpPr>
        <p:spPr>
          <a:xfrm>
            <a:off x="1117600" y="2362200"/>
            <a:ext cx="2908300" cy="698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Tasks, courses, exams, plans,</a:t>
            </a:r>
            <a:br/>
            <a:r>
              <a:rPr sz="1300" b="0">
                <a:solidFill>
                  <a:srgbClr val="586A62"/>
                </a:solidFill>
                <a:latin typeface="Arial"/>
              </a:rPr>
              <a:t>expenses and documents.</a:t>
            </a:r>
          </a:p>
        </p:txBody>
      </p:sp>
      <p:sp>
        <p:nvSpPr>
          <p:cNvPr id="12" name="Rounded Rectangle 11"/>
          <p:cNvSpPr/>
          <p:nvPr/>
        </p:nvSpPr>
        <p:spPr>
          <a:xfrm>
            <a:off x="482600" y="3162300"/>
            <a:ext cx="3733800" cy="1092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400" y="33147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02</a:t>
            </a:r>
          </a:p>
        </p:txBody>
      </p:sp>
      <p:sp>
        <p:nvSpPr>
          <p:cNvPr id="14" name="TextBox 13"/>
          <p:cNvSpPr txBox="1"/>
          <p:nvPr/>
        </p:nvSpPr>
        <p:spPr>
          <a:xfrm>
            <a:off x="1117600" y="3289300"/>
            <a:ext cx="292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Verify</a:t>
            </a:r>
          </a:p>
        </p:txBody>
      </p:sp>
      <p:sp>
        <p:nvSpPr>
          <p:cNvPr id="15" name="TextBox 14"/>
          <p:cNvSpPr txBox="1"/>
          <p:nvPr/>
        </p:nvSpPr>
        <p:spPr>
          <a:xfrm>
            <a:off x="1117600" y="3556000"/>
            <a:ext cx="2908300" cy="698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Ask within an authorized source;</a:t>
            </a:r>
            <a:br/>
            <a:r>
              <a:rPr sz="1300" b="0">
                <a:solidFill>
                  <a:srgbClr val="586A62"/>
                </a:solidFill>
                <a:latin typeface="Arial"/>
              </a:rPr>
              <a:t>inspect the cited PDF page.</a:t>
            </a:r>
          </a:p>
        </p:txBody>
      </p:sp>
      <p:sp>
        <p:nvSpPr>
          <p:cNvPr id="16" name="Rounded Rectangle 15"/>
          <p:cNvSpPr/>
          <p:nvPr/>
        </p:nvSpPr>
        <p:spPr>
          <a:xfrm>
            <a:off x="482600" y="4356100"/>
            <a:ext cx="3733800" cy="1092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45085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03</a:t>
            </a:r>
          </a:p>
        </p:txBody>
      </p:sp>
      <p:sp>
        <p:nvSpPr>
          <p:cNvPr id="18" name="TextBox 17"/>
          <p:cNvSpPr txBox="1"/>
          <p:nvPr/>
        </p:nvSpPr>
        <p:spPr>
          <a:xfrm>
            <a:off x="1117600" y="4483100"/>
            <a:ext cx="292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Practise</a:t>
            </a:r>
          </a:p>
        </p:txBody>
      </p:sp>
      <p:sp>
        <p:nvSpPr>
          <p:cNvPr id="19" name="TextBox 18"/>
          <p:cNvSpPr txBox="1"/>
          <p:nvPr/>
        </p:nvSpPr>
        <p:spPr>
          <a:xfrm>
            <a:off x="1117600" y="4749800"/>
            <a:ext cx="2908300" cy="698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Preview, explicitly save, then review</a:t>
            </a:r>
            <a:br/>
            <a:r>
              <a:rPr sz="1300" b="0">
                <a:solidFill>
                  <a:srgbClr val="586A62"/>
                </a:solidFill>
                <a:latin typeface="Arial"/>
              </a:rPr>
              <a:t>personal progress.</a:t>
            </a:r>
          </a:p>
        </p:txBody>
      </p:sp>
      <p:sp>
        <p:nvSpPr>
          <p:cNvPr id="20" name="Rounded Rectangle 19"/>
          <p:cNvSpPr/>
          <p:nvPr/>
        </p:nvSpPr>
        <p:spPr>
          <a:xfrm>
            <a:off x="4483100" y="1968500"/>
            <a:ext cx="7226300" cy="3606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ashboard.jpg"/>
          <p:cNvPicPr>
            <a:picLocks noChangeAspect="1"/>
          </p:cNvPicPr>
          <p:nvPr/>
        </p:nvPicPr>
        <p:blipFill>
          <a:blip r:embed="rId3"/>
          <a:stretch>
            <a:fillRect/>
          </a:stretch>
        </p:blipFill>
        <p:spPr>
          <a:xfrm>
            <a:off x="5129096" y="2082800"/>
            <a:ext cx="5934306" cy="3340100"/>
          </a:xfrm>
          <a:prstGeom prst="rect">
            <a:avLst/>
          </a:prstGeom>
        </p:spPr>
      </p:pic>
      <p:sp>
        <p:nvSpPr>
          <p:cNvPr id="22" name="TextBox 21"/>
          <p:cNvSpPr txBox="1"/>
          <p:nvPr/>
        </p:nvSpPr>
        <p:spPr>
          <a:xfrm>
            <a:off x="4559300" y="5638800"/>
            <a:ext cx="7073900" cy="431800"/>
          </a:xfrm>
          <a:prstGeom prst="rect">
            <a:avLst/>
          </a:prstGeom>
          <a:noFill/>
        </p:spPr>
        <p:txBody>
          <a:bodyPr wrap="none" lIns="0" rIns="0" tIns="0" bIns="0" anchor="t">
            <a:spAutoFit/>
          </a:bodyPr>
          <a:lstStyle/>
          <a:p>
            <a:pPr algn="l">
              <a:lnSpc>
                <a:spcPts val="1391"/>
              </a:lnSpc>
              <a:spcBef>
                <a:spcPts val="0"/>
              </a:spcBef>
              <a:spcAft>
                <a:spcPts val="0"/>
              </a:spcAft>
            </a:pPr>
            <a:r>
              <a:rPr sz="1200" b="0">
                <a:solidFill>
                  <a:srgbClr val="586A62"/>
                </a:solidFill>
                <a:latin typeface="Arial"/>
              </a:rPr>
              <a:t>One workspace. A traceable learning loop. Real-service capture, retained.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SYSTEM DESIGN</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THẮNG</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03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944"/>
              </a:lnSpc>
              <a:spcBef>
                <a:spcPts val="0"/>
              </a:spcBef>
              <a:spcAft>
                <a:spcPts val="0"/>
              </a:spcAft>
            </a:pPr>
            <a:r>
              <a:rPr sz="3400" b="0">
                <a:solidFill>
                  <a:srgbClr val="18372F"/>
                </a:solidFill>
                <a:latin typeface="Georgia"/>
              </a:rPr>
              <a:t>Architecture with explicit trust boundaries</a:t>
            </a:r>
          </a:p>
        </p:txBody>
      </p:sp>
      <p:sp>
        <p:nvSpPr>
          <p:cNvPr id="8" name="Rounded Rectangle 7"/>
          <p:cNvSpPr/>
          <p:nvPr/>
        </p:nvSpPr>
        <p:spPr>
          <a:xfrm>
            <a:off x="482600" y="2120900"/>
            <a:ext cx="2768600" cy="17780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11400"/>
            <a:ext cx="2362200" cy="393700"/>
          </a:xfrm>
          <a:prstGeom prst="rect">
            <a:avLst/>
          </a:prstGeom>
          <a:noFill/>
        </p:spPr>
        <p:txBody>
          <a:bodyPr wrap="none" lIns="0" rIns="0" tIns="0" bIns="0" anchor="t">
            <a:spAutoFit/>
          </a:bodyPr>
          <a:lstStyle/>
          <a:p>
            <a:pPr algn="l">
              <a:lnSpc>
                <a:spcPts val="2668"/>
              </a:lnSpc>
              <a:spcBef>
                <a:spcPts val="0"/>
              </a:spcBef>
              <a:spcAft>
                <a:spcPts val="0"/>
              </a:spcAft>
            </a:pPr>
            <a:r>
              <a:rPr sz="2300" b="1">
                <a:solidFill>
                  <a:srgbClr val="18372F"/>
                </a:solidFill>
                <a:latin typeface="Arial"/>
              </a:rPr>
              <a:t>Browser</a:t>
            </a:r>
          </a:p>
        </p:txBody>
      </p:sp>
      <p:sp>
        <p:nvSpPr>
          <p:cNvPr id="10" name="TextBox 9"/>
          <p:cNvSpPr txBox="1"/>
          <p:nvPr/>
        </p:nvSpPr>
        <p:spPr>
          <a:xfrm>
            <a:off x="685800" y="2870200"/>
            <a:ext cx="2362200" cy="825500"/>
          </a:xfrm>
          <a:prstGeom prst="rect">
            <a:avLst/>
          </a:prstGeom>
          <a:noFill/>
        </p:spPr>
        <p:txBody>
          <a:bodyPr wrap="none" lIns="0" rIns="0" tIns="0" bIns="0" anchor="t">
            <a:spAutoFit/>
          </a:bodyPr>
          <a:lstStyle/>
          <a:p>
            <a:pPr algn="l">
              <a:lnSpc>
                <a:spcPts val="1972"/>
              </a:lnSpc>
              <a:spcBef>
                <a:spcPts val="0"/>
              </a:spcBef>
              <a:spcAft>
                <a:spcPts val="0"/>
              </a:spcAft>
            </a:pPr>
            <a:r>
              <a:rPr sz="1700" b="0">
                <a:solidFill>
                  <a:srgbClr val="586A62"/>
                </a:solidFill>
                <a:latin typeface="Arial"/>
              </a:rPr>
              <a:t>React + TypeScript ·</a:t>
            </a:r>
            <a:br/>
            <a:r>
              <a:rPr sz="1700" b="0">
                <a:solidFill>
                  <a:srgbClr val="586A62"/>
                </a:solidFill>
                <a:latin typeface="Arial"/>
              </a:rPr>
              <a:t>Vite · responsive UI</a:t>
            </a:r>
          </a:p>
        </p:txBody>
      </p:sp>
      <p:cxnSp>
        <p:nvCxnSpPr>
          <p:cNvPr id="11" name="Connector 10"/>
          <p:cNvCxnSpPr/>
          <p:nvPr/>
        </p:nvCxnSpPr>
        <p:spPr>
          <a:xfrm>
            <a:off x="3251200" y="2971800"/>
            <a:ext cx="660400" cy="0"/>
          </a:xfrm>
          <a:prstGeom prst="line">
            <a:avLst/>
          </a:prstGeom>
          <a:ln w="15240">
            <a:solidFill>
              <a:srgbClr val="B85B34"/>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924300" y="1917700"/>
            <a:ext cx="3797300" cy="3479800"/>
          </a:xfrm>
          <a:prstGeom prst="roundRect">
            <a:avLst>
              <a:gd name="adj" fmla="val 8000"/>
            </a:avLst>
          </a:prstGeom>
          <a:solidFill>
            <a:srgbClr val="183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1000" y="2146300"/>
            <a:ext cx="3276600" cy="469900"/>
          </a:xfrm>
          <a:prstGeom prst="rect">
            <a:avLst/>
          </a:prstGeom>
          <a:noFill/>
        </p:spPr>
        <p:txBody>
          <a:bodyPr wrap="none" lIns="0" rIns="0" tIns="0" bIns="0" anchor="t">
            <a:spAutoFit/>
          </a:bodyPr>
          <a:lstStyle/>
          <a:p>
            <a:pPr algn="l">
              <a:lnSpc>
                <a:spcPts val="3247"/>
              </a:lnSpc>
              <a:spcBef>
                <a:spcPts val="0"/>
              </a:spcBef>
              <a:spcAft>
                <a:spcPts val="0"/>
              </a:spcAft>
            </a:pPr>
            <a:r>
              <a:rPr sz="2800" b="1">
                <a:solidFill>
                  <a:srgbClr val="FFFFFF"/>
                </a:solidFill>
                <a:latin typeface="Arial"/>
              </a:rPr>
              <a:t>NestJS API</a:t>
            </a:r>
          </a:p>
        </p:txBody>
      </p:sp>
      <p:sp>
        <p:nvSpPr>
          <p:cNvPr id="14" name="TextBox 13"/>
          <p:cNvSpPr txBox="1"/>
          <p:nvPr/>
        </p:nvSpPr>
        <p:spPr>
          <a:xfrm>
            <a:off x="4191000" y="2768600"/>
            <a:ext cx="3175000" cy="2082800"/>
          </a:xfrm>
          <a:prstGeom prst="rect">
            <a:avLst/>
          </a:prstGeom>
          <a:noFill/>
        </p:spPr>
        <p:txBody>
          <a:bodyPr wrap="none" lIns="0" rIns="0" tIns="0" bIns="0" anchor="t">
            <a:spAutoFit/>
          </a:bodyPr>
          <a:lstStyle/>
          <a:p>
            <a:pPr algn="l">
              <a:lnSpc>
                <a:spcPts val="2204"/>
              </a:lnSpc>
              <a:spcBef>
                <a:spcPts val="0"/>
              </a:spcBef>
              <a:spcAft>
                <a:spcPts val="0"/>
              </a:spcAft>
            </a:pPr>
            <a:r>
              <a:rPr sz="1900" b="0">
                <a:solidFill>
                  <a:srgbClr val="E6EDDF"/>
                </a:solidFill>
                <a:latin typeface="Arial"/>
              </a:rPr>
              <a:t>Session + membership</a:t>
            </a:r>
            <a:br/>
            <a:r>
              <a:rPr sz="1900" b="0">
                <a:solidFill>
                  <a:srgbClr val="E6EDDF"/>
                </a:solidFill>
                <a:latin typeface="Arial"/>
              </a:rPr>
              <a:t>Business services</a:t>
            </a:r>
            <a:br/>
            <a:r>
              <a:rPr sz="1900" b="0">
                <a:solidFill>
                  <a:srgbClr val="E6EDDF"/>
                </a:solidFill>
                <a:latin typeface="Arial"/>
              </a:rPr>
              <a:t>RAG / Study Coach</a:t>
            </a:r>
            <a:br/>
            <a:r>
              <a:rPr sz="1900" b="0">
                <a:solidFill>
                  <a:srgbClr val="E6EDDF"/>
                </a:solidFill>
                <a:latin typeface="Arial"/>
              </a:rPr>
              <a:t>Admission + telemetry</a:t>
            </a:r>
          </a:p>
        </p:txBody>
      </p:sp>
      <p:sp>
        <p:nvSpPr>
          <p:cNvPr id="15" name="TextBox 14"/>
          <p:cNvSpPr txBox="1"/>
          <p:nvPr/>
        </p:nvSpPr>
        <p:spPr>
          <a:xfrm>
            <a:off x="4191000" y="4838700"/>
            <a:ext cx="3175000" cy="3429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D2E58B"/>
                </a:solidFill>
                <a:latin typeface="Arial"/>
              </a:rPr>
              <a:t>Local Whisper worker</a:t>
            </a:r>
          </a:p>
        </p:txBody>
      </p:sp>
      <p:cxnSp>
        <p:nvCxnSpPr>
          <p:cNvPr id="16" name="Connector 15"/>
          <p:cNvCxnSpPr/>
          <p:nvPr/>
        </p:nvCxnSpPr>
        <p:spPr>
          <a:xfrm>
            <a:off x="7721600" y="2362200"/>
            <a:ext cx="711200" cy="0"/>
          </a:xfrm>
          <a:prstGeom prst="line">
            <a:avLst/>
          </a:prstGeom>
          <a:ln w="15240">
            <a:solidFill>
              <a:srgbClr val="335D49"/>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445500" y="1854200"/>
            <a:ext cx="3263900" cy="11176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36000" y="1981200"/>
            <a:ext cx="28829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Database</a:t>
            </a:r>
          </a:p>
        </p:txBody>
      </p:sp>
      <p:sp>
        <p:nvSpPr>
          <p:cNvPr id="19" name="TextBox 18"/>
          <p:cNvSpPr txBox="1"/>
          <p:nvPr/>
        </p:nvSpPr>
        <p:spPr>
          <a:xfrm>
            <a:off x="8636000" y="2336800"/>
            <a:ext cx="2882900" cy="546100"/>
          </a:xfrm>
          <a:prstGeom prst="rect">
            <a:avLst/>
          </a:prstGeom>
          <a:noFill/>
        </p:spPr>
        <p:txBody>
          <a:bodyPr wrap="none" lIns="0" rIns="0" tIns="0" bIns="0" anchor="t">
            <a:spAutoFit/>
          </a:bodyPr>
          <a:lstStyle/>
          <a:p>
            <a:pPr algn="l">
              <a:lnSpc>
                <a:spcPts val="1623"/>
              </a:lnSpc>
              <a:spcBef>
                <a:spcPts val="0"/>
              </a:spcBef>
              <a:spcAft>
                <a:spcPts val="0"/>
              </a:spcAft>
            </a:pPr>
            <a:r>
              <a:rPr sz="1400" b="0">
                <a:solidFill>
                  <a:srgbClr val="586A62"/>
                </a:solidFill>
                <a:latin typeface="Arial"/>
              </a:rPr>
              <a:t>PostgreSQL + pgvector · scoped</a:t>
            </a:r>
            <a:br/>
            <a:r>
              <a:rPr sz="1400" b="0">
                <a:solidFill>
                  <a:srgbClr val="586A62"/>
                </a:solidFill>
                <a:latin typeface="Arial"/>
              </a:rPr>
              <a:t>queries + RLS</a:t>
            </a:r>
          </a:p>
        </p:txBody>
      </p:sp>
      <p:cxnSp>
        <p:nvCxnSpPr>
          <p:cNvPr id="20" name="Connector 19"/>
          <p:cNvCxnSpPr/>
          <p:nvPr/>
        </p:nvCxnSpPr>
        <p:spPr>
          <a:xfrm>
            <a:off x="7721600" y="3619500"/>
            <a:ext cx="711200" cy="0"/>
          </a:xfrm>
          <a:prstGeom prst="line">
            <a:avLst/>
          </a:prstGeom>
          <a:ln w="15240">
            <a:solidFill>
              <a:srgbClr val="335D49"/>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45500" y="3111500"/>
            <a:ext cx="3263900" cy="11176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36000" y="3238500"/>
            <a:ext cx="28829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Identity + files</a:t>
            </a:r>
          </a:p>
        </p:txBody>
      </p:sp>
      <p:sp>
        <p:nvSpPr>
          <p:cNvPr id="23" name="TextBox 22"/>
          <p:cNvSpPr txBox="1"/>
          <p:nvPr/>
        </p:nvSpPr>
        <p:spPr>
          <a:xfrm>
            <a:off x="8636000" y="3594100"/>
            <a:ext cx="2882900" cy="546100"/>
          </a:xfrm>
          <a:prstGeom prst="rect">
            <a:avLst/>
          </a:prstGeom>
          <a:noFill/>
        </p:spPr>
        <p:txBody>
          <a:bodyPr wrap="none" lIns="0" rIns="0" tIns="0" bIns="0" anchor="t">
            <a:spAutoFit/>
          </a:bodyPr>
          <a:lstStyle/>
          <a:p>
            <a:pPr algn="l">
              <a:lnSpc>
                <a:spcPts val="1623"/>
              </a:lnSpc>
              <a:spcBef>
                <a:spcPts val="0"/>
              </a:spcBef>
              <a:spcAft>
                <a:spcPts val="0"/>
              </a:spcAft>
            </a:pPr>
            <a:r>
              <a:rPr sz="1400" b="0">
                <a:solidFill>
                  <a:srgbClr val="586A62"/>
                </a:solidFill>
                <a:latin typeface="Arial"/>
              </a:rPr>
              <a:t>Supabase Auth / Google · private</a:t>
            </a:r>
            <a:br/>
            <a:r>
              <a:rPr sz="1400" b="0">
                <a:solidFill>
                  <a:srgbClr val="586A62"/>
                </a:solidFill>
                <a:latin typeface="Arial"/>
              </a:rPr>
              <a:t>Storage</a:t>
            </a:r>
          </a:p>
        </p:txBody>
      </p:sp>
      <p:cxnSp>
        <p:nvCxnSpPr>
          <p:cNvPr id="24" name="Connector 23"/>
          <p:cNvCxnSpPr/>
          <p:nvPr/>
        </p:nvCxnSpPr>
        <p:spPr>
          <a:xfrm>
            <a:off x="7721600" y="4876800"/>
            <a:ext cx="711200" cy="0"/>
          </a:xfrm>
          <a:prstGeom prst="line">
            <a:avLst/>
          </a:prstGeom>
          <a:ln w="15240">
            <a:solidFill>
              <a:srgbClr val="335D49"/>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445500" y="4368800"/>
            <a:ext cx="3263900" cy="11176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36000" y="4495800"/>
            <a:ext cx="28829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AI services</a:t>
            </a:r>
          </a:p>
        </p:txBody>
      </p:sp>
      <p:sp>
        <p:nvSpPr>
          <p:cNvPr id="27" name="TextBox 26"/>
          <p:cNvSpPr txBox="1"/>
          <p:nvPr/>
        </p:nvSpPr>
        <p:spPr>
          <a:xfrm>
            <a:off x="8636000" y="4851400"/>
            <a:ext cx="2882900" cy="546100"/>
          </a:xfrm>
          <a:prstGeom prst="rect">
            <a:avLst/>
          </a:prstGeom>
          <a:noFill/>
        </p:spPr>
        <p:txBody>
          <a:bodyPr wrap="none" lIns="0" rIns="0" tIns="0" bIns="0" anchor="t">
            <a:spAutoFit/>
          </a:bodyPr>
          <a:lstStyle/>
          <a:p>
            <a:pPr algn="l">
              <a:lnSpc>
                <a:spcPts val="1623"/>
              </a:lnSpc>
              <a:spcBef>
                <a:spcPts val="0"/>
              </a:spcBef>
              <a:spcAft>
                <a:spcPts val="0"/>
              </a:spcAft>
            </a:pPr>
            <a:r>
              <a:rPr sz="1400" b="0">
                <a:solidFill>
                  <a:srgbClr val="586A62"/>
                </a:solidFill>
                <a:latin typeface="Arial"/>
              </a:rPr>
              <a:t>Gemini embedding + generation ·</a:t>
            </a:r>
            <a:br/>
            <a:r>
              <a:rPr sz="1400" b="0">
                <a:solidFill>
                  <a:srgbClr val="586A62"/>
                </a:solidFill>
                <a:latin typeface="Arial"/>
              </a:rPr>
              <a:t>local Whisper STT</a:t>
            </a:r>
          </a:p>
        </p:txBody>
      </p:sp>
      <p:sp>
        <p:nvSpPr>
          <p:cNvPr id="28" name="TextBox 27"/>
          <p:cNvSpPr txBox="1"/>
          <p:nvPr/>
        </p:nvSpPr>
        <p:spPr>
          <a:xfrm>
            <a:off x="482600" y="5765800"/>
            <a:ext cx="11176000" cy="4064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335D49"/>
                </a:solidFill>
                <a:latin typeface="Arial"/>
              </a:rPr>
              <a:t>Business and Auth use separate non-owner runtime LOGINs.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CAPABILITY A / RAG</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04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711"/>
              </a:lnSpc>
              <a:spcBef>
                <a:spcPts val="0"/>
              </a:spcBef>
              <a:spcAft>
                <a:spcPts val="0"/>
              </a:spcAft>
            </a:pPr>
            <a:r>
              <a:rPr sz="3200" b="0">
                <a:solidFill>
                  <a:srgbClr val="18372F"/>
                </a:solidFill>
                <a:latin typeface="Georgia"/>
              </a:rPr>
              <a:t>Capability A: answer from authorized evidence</a:t>
            </a:r>
          </a:p>
        </p:txBody>
      </p:sp>
      <p:sp>
        <p:nvSpPr>
          <p:cNvPr id="8" name="Rounded Rectangle 7"/>
          <p:cNvSpPr/>
          <p:nvPr/>
        </p:nvSpPr>
        <p:spPr>
          <a:xfrm>
            <a:off x="482600" y="1879600"/>
            <a:ext cx="5003800" cy="8255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20320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01</a:t>
            </a:r>
          </a:p>
        </p:txBody>
      </p:sp>
      <p:sp>
        <p:nvSpPr>
          <p:cNvPr id="10" name="TextBox 9"/>
          <p:cNvSpPr txBox="1"/>
          <p:nvPr/>
        </p:nvSpPr>
        <p:spPr>
          <a:xfrm>
            <a:off x="1117600" y="2006600"/>
            <a:ext cx="419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Ingest</a:t>
            </a:r>
          </a:p>
        </p:txBody>
      </p:sp>
      <p:sp>
        <p:nvSpPr>
          <p:cNvPr id="11" name="TextBox 10"/>
          <p:cNvSpPr txBox="1"/>
          <p:nvPr/>
        </p:nvSpPr>
        <p:spPr>
          <a:xfrm>
            <a:off x="1117600" y="2273300"/>
            <a:ext cx="4178300" cy="4318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Ready PDF → page-bounded chunks →</a:t>
            </a:r>
            <a:br/>
            <a:r>
              <a:rPr sz="1300" b="0">
                <a:solidFill>
                  <a:srgbClr val="586A62"/>
                </a:solidFill>
                <a:latin typeface="Arial"/>
              </a:rPr>
              <a:t>768-dimensional vectors.</a:t>
            </a:r>
          </a:p>
        </p:txBody>
      </p:sp>
      <p:sp>
        <p:nvSpPr>
          <p:cNvPr id="12" name="Rounded Rectangle 11"/>
          <p:cNvSpPr/>
          <p:nvPr/>
        </p:nvSpPr>
        <p:spPr>
          <a:xfrm>
            <a:off x="482600" y="2781300"/>
            <a:ext cx="5003800" cy="8255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400" y="29337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02</a:t>
            </a:r>
          </a:p>
        </p:txBody>
      </p:sp>
      <p:sp>
        <p:nvSpPr>
          <p:cNvPr id="14" name="TextBox 13"/>
          <p:cNvSpPr txBox="1"/>
          <p:nvPr/>
        </p:nvSpPr>
        <p:spPr>
          <a:xfrm>
            <a:off x="1117600" y="2908300"/>
            <a:ext cx="419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Retrieve</a:t>
            </a:r>
          </a:p>
        </p:txBody>
      </p:sp>
      <p:sp>
        <p:nvSpPr>
          <p:cNvPr id="15" name="TextBox 14"/>
          <p:cNvSpPr txBox="1"/>
          <p:nvPr/>
        </p:nvSpPr>
        <p:spPr>
          <a:xfrm>
            <a:off x="1117600" y="3175000"/>
            <a:ext cx="4178300" cy="4318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Scope first; keep up to six qualifying evidence chunks.</a:t>
            </a:r>
          </a:p>
        </p:txBody>
      </p:sp>
      <p:sp>
        <p:nvSpPr>
          <p:cNvPr id="16" name="Rounded Rectangle 15"/>
          <p:cNvSpPr/>
          <p:nvPr/>
        </p:nvSpPr>
        <p:spPr>
          <a:xfrm>
            <a:off x="482600" y="3683000"/>
            <a:ext cx="5003800" cy="8255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38354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03</a:t>
            </a:r>
          </a:p>
        </p:txBody>
      </p:sp>
      <p:sp>
        <p:nvSpPr>
          <p:cNvPr id="18" name="TextBox 17"/>
          <p:cNvSpPr txBox="1"/>
          <p:nvPr/>
        </p:nvSpPr>
        <p:spPr>
          <a:xfrm>
            <a:off x="1117600" y="3810000"/>
            <a:ext cx="419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Validate</a:t>
            </a:r>
          </a:p>
        </p:txBody>
      </p:sp>
      <p:sp>
        <p:nvSpPr>
          <p:cNvPr id="19" name="TextBox 18"/>
          <p:cNvSpPr txBox="1"/>
          <p:nvPr/>
        </p:nvSpPr>
        <p:spPr>
          <a:xfrm>
            <a:off x="1117600" y="4076700"/>
            <a:ext cx="4178300" cy="4318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Answer shape, source IDs and inline markers must</a:t>
            </a:r>
            <a:br/>
            <a:r>
              <a:rPr sz="1300" b="0">
                <a:solidFill>
                  <a:srgbClr val="586A62"/>
                </a:solidFill>
                <a:latin typeface="Arial"/>
              </a:rPr>
              <a:t>agree.</a:t>
            </a:r>
          </a:p>
        </p:txBody>
      </p:sp>
      <p:sp>
        <p:nvSpPr>
          <p:cNvPr id="20" name="Rounded Rectangle 19"/>
          <p:cNvSpPr/>
          <p:nvPr/>
        </p:nvSpPr>
        <p:spPr>
          <a:xfrm>
            <a:off x="482600" y="4584700"/>
            <a:ext cx="5003800" cy="8255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400" y="47371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04</a:t>
            </a:r>
          </a:p>
        </p:txBody>
      </p:sp>
      <p:sp>
        <p:nvSpPr>
          <p:cNvPr id="22" name="TextBox 21"/>
          <p:cNvSpPr txBox="1"/>
          <p:nvPr/>
        </p:nvSpPr>
        <p:spPr>
          <a:xfrm>
            <a:off x="1117600" y="4711700"/>
            <a:ext cx="41910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Inspect</a:t>
            </a:r>
          </a:p>
        </p:txBody>
      </p:sp>
      <p:sp>
        <p:nvSpPr>
          <p:cNvPr id="23" name="TextBox 22"/>
          <p:cNvSpPr txBox="1"/>
          <p:nvPr/>
        </p:nvSpPr>
        <p:spPr>
          <a:xfrm>
            <a:off x="1117600" y="4978400"/>
            <a:ext cx="4178300" cy="4318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Open the cited PDF page with fresh scoped access.</a:t>
            </a:r>
          </a:p>
        </p:txBody>
      </p:sp>
      <p:sp>
        <p:nvSpPr>
          <p:cNvPr id="24" name="Rounded Rectangle 23"/>
          <p:cNvSpPr/>
          <p:nvPr/>
        </p:nvSpPr>
        <p:spPr>
          <a:xfrm>
            <a:off x="5727700" y="1879600"/>
            <a:ext cx="5981700" cy="36830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rag-citation-page3.jpg"/>
          <p:cNvPicPr>
            <a:picLocks noChangeAspect="1"/>
          </p:cNvPicPr>
          <p:nvPr/>
        </p:nvPicPr>
        <p:blipFill>
          <a:blip r:embed="rId3"/>
          <a:stretch>
            <a:fillRect/>
          </a:stretch>
        </p:blipFill>
        <p:spPr>
          <a:xfrm>
            <a:off x="5914390" y="1955800"/>
            <a:ext cx="5608320" cy="3505200"/>
          </a:xfrm>
          <a:prstGeom prst="rect">
            <a:avLst/>
          </a:prstGeom>
        </p:spPr>
      </p:pic>
      <p:sp>
        <p:nvSpPr>
          <p:cNvPr id="26" name="TextBox 25"/>
          <p:cNvSpPr txBox="1"/>
          <p:nvPr/>
        </p:nvSpPr>
        <p:spPr>
          <a:xfrm>
            <a:off x="5753100" y="5613400"/>
            <a:ext cx="5892800" cy="495300"/>
          </a:xfrm>
          <a:prstGeom prst="rect">
            <a:avLst/>
          </a:prstGeom>
          <a:noFill/>
        </p:spPr>
        <p:txBody>
          <a:bodyPr wrap="none" lIns="0" rIns="0" tIns="0" bIns="0" anchor="t">
            <a:spAutoFit/>
          </a:bodyPr>
          <a:lstStyle/>
          <a:p>
            <a:pPr algn="l">
              <a:lnSpc>
                <a:spcPts val="1160"/>
              </a:lnSpc>
              <a:spcBef>
                <a:spcPts val="0"/>
              </a:spcBef>
              <a:spcAft>
                <a:spcPts val="0"/>
              </a:spcAft>
            </a:pPr>
            <a:r>
              <a:rPr sz="1000" b="0">
                <a:solidFill>
                  <a:srgbClr val="586A62"/>
                </a:solidFill>
                <a:latin typeface="Arial"/>
              </a:rPr>
              <a:t>Historical browser fixture: real Nest/PG17; synthetic Auth, Storage and provider. PDF page 3 shown.</a:t>
            </a:r>
          </a:p>
        </p:txBody>
      </p:sp>
      <p:sp>
        <p:nvSpPr>
          <p:cNvPr id="27" name="TextBox 26"/>
          <p:cNvSpPr txBox="1"/>
          <p:nvPr/>
        </p:nvSpPr>
        <p:spPr>
          <a:xfrm>
            <a:off x="482600" y="5626100"/>
            <a:ext cx="4965700" cy="558800"/>
          </a:xfrm>
          <a:prstGeom prst="rect">
            <a:avLst/>
          </a:prstGeom>
          <a:noFill/>
        </p:spPr>
        <p:txBody>
          <a:bodyPr wrap="none" lIns="0" rIns="0" tIns="0" bIns="0" anchor="t">
            <a:spAutoFit/>
          </a:bodyPr>
          <a:lstStyle/>
          <a:p>
            <a:pPr algn="l">
              <a:lnSpc>
                <a:spcPts val="1391"/>
              </a:lnSpc>
              <a:spcBef>
                <a:spcPts val="0"/>
              </a:spcBef>
              <a:spcAft>
                <a:spcPts val="0"/>
              </a:spcAft>
            </a:pPr>
            <a:r>
              <a:rPr sz="1200" b="1">
                <a:solidFill>
                  <a:srgbClr val="335D49"/>
                </a:solidFill>
                <a:latin typeface="Arial"/>
              </a:rPr>
              <a:t>No evidence → no answer generation.</a:t>
            </a:r>
            <a:br/>
            <a:r>
              <a:rPr sz="1200" b="1">
                <a:solidFill>
                  <a:srgbClr val="335D49"/>
                </a:solidFill>
                <a:latin typeface="Arial"/>
              </a:rPr>
              <a:t>Query embedding may already have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D29"/>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D2E58B"/>
                </a:solidFill>
                <a:latin typeface="Arial"/>
              </a:rPr>
              <a:t>DEMONSTRATION / SWITCH TO THE WEB APP</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D2E58B"/>
                </a:solidFill>
                <a:latin typeface="Arial"/>
              </a:rPr>
              <a:t>TÀI → THẮNG → TÀI</a:t>
            </a:r>
          </a:p>
        </p:txBody>
      </p:sp>
      <p:cxnSp>
        <p:nvCxnSpPr>
          <p:cNvPr id="4" name="Connector 3"/>
          <p:cNvCxnSpPr/>
          <p:nvPr/>
        </p:nvCxnSpPr>
        <p:spPr>
          <a:xfrm>
            <a:off x="482600" y="6311900"/>
            <a:ext cx="11226800" cy="0"/>
          </a:xfrm>
          <a:prstGeom prst="line">
            <a:avLst/>
          </a:prstGeom>
          <a:ln w="15240">
            <a:solidFill>
              <a:srgbClr val="335D49"/>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E6EDDF"/>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E6EDDF"/>
                </a:solidFill>
                <a:latin typeface="Arial"/>
              </a:rPr>
              <a:t>05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4059"/>
              </a:lnSpc>
              <a:spcBef>
                <a:spcPts val="0"/>
              </a:spcBef>
              <a:spcAft>
                <a:spcPts val="0"/>
              </a:spcAft>
            </a:pPr>
            <a:r>
              <a:rPr sz="3500" b="0">
                <a:solidFill>
                  <a:srgbClr val="FFFFFF"/>
                </a:solidFill>
                <a:latin typeface="Georgia"/>
              </a:rPr>
              <a:t>Live demo: verify one answer</a:t>
            </a:r>
          </a:p>
        </p:txBody>
      </p:sp>
      <p:sp>
        <p:nvSpPr>
          <p:cNvPr id="8" name="Rounded Rectangle 7"/>
          <p:cNvSpPr/>
          <p:nvPr/>
        </p:nvSpPr>
        <p:spPr>
          <a:xfrm>
            <a:off x="482600" y="1892300"/>
            <a:ext cx="5499100" cy="11176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20447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D2E58B"/>
                </a:solidFill>
                <a:latin typeface="Arial"/>
              </a:rPr>
              <a:t>01</a:t>
            </a:r>
          </a:p>
        </p:txBody>
      </p:sp>
      <p:sp>
        <p:nvSpPr>
          <p:cNvPr id="10" name="TextBox 9"/>
          <p:cNvSpPr txBox="1"/>
          <p:nvPr/>
        </p:nvSpPr>
        <p:spPr>
          <a:xfrm>
            <a:off x="1117600" y="2019300"/>
            <a:ext cx="46863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FFFFFF"/>
                </a:solidFill>
                <a:latin typeface="Arial"/>
              </a:rPr>
              <a:t>Persist</a:t>
            </a:r>
          </a:p>
        </p:txBody>
      </p:sp>
      <p:sp>
        <p:nvSpPr>
          <p:cNvPr id="11" name="TextBox 10"/>
          <p:cNvSpPr txBox="1"/>
          <p:nvPr/>
        </p:nvSpPr>
        <p:spPr>
          <a:xfrm>
            <a:off x="1117600" y="2286000"/>
            <a:ext cx="4673600" cy="7239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E6EDDF"/>
                </a:solidFill>
                <a:latin typeface="Arial"/>
              </a:rPr>
              <a:t>Update a task, reload and confirm the stored change.</a:t>
            </a:r>
          </a:p>
        </p:txBody>
      </p:sp>
      <p:sp>
        <p:nvSpPr>
          <p:cNvPr id="12" name="Rounded Rectangle 11"/>
          <p:cNvSpPr/>
          <p:nvPr/>
        </p:nvSpPr>
        <p:spPr>
          <a:xfrm>
            <a:off x="6210300" y="1892300"/>
            <a:ext cx="5499100" cy="11176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8100" y="20447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D2E58B"/>
                </a:solidFill>
                <a:latin typeface="Arial"/>
              </a:rPr>
              <a:t>02</a:t>
            </a:r>
          </a:p>
        </p:txBody>
      </p:sp>
      <p:sp>
        <p:nvSpPr>
          <p:cNvPr id="14" name="TextBox 13"/>
          <p:cNvSpPr txBox="1"/>
          <p:nvPr/>
        </p:nvSpPr>
        <p:spPr>
          <a:xfrm>
            <a:off x="6845300" y="2019300"/>
            <a:ext cx="46863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FFFFFF"/>
                </a:solidFill>
                <a:latin typeface="Arial"/>
              </a:rPr>
              <a:t>Ask</a:t>
            </a:r>
          </a:p>
        </p:txBody>
      </p:sp>
      <p:sp>
        <p:nvSpPr>
          <p:cNvPr id="15" name="TextBox 14"/>
          <p:cNvSpPr txBox="1"/>
          <p:nvPr/>
        </p:nvSpPr>
        <p:spPr>
          <a:xfrm>
            <a:off x="6845300" y="2286000"/>
            <a:ext cx="4673600" cy="7239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E6EDDF"/>
                </a:solidFill>
                <a:latin typeface="Arial"/>
              </a:rPr>
              <a:t>Select the ready operating-systems PDF and ask the question</a:t>
            </a:r>
            <a:br/>
            <a:r>
              <a:rPr sz="1300" b="0">
                <a:solidFill>
                  <a:srgbClr val="E6EDDF"/>
                </a:solidFill>
                <a:latin typeface="Arial"/>
              </a:rPr>
              <a:t>below.</a:t>
            </a:r>
          </a:p>
        </p:txBody>
      </p:sp>
      <p:sp>
        <p:nvSpPr>
          <p:cNvPr id="16" name="Rounded Rectangle 15"/>
          <p:cNvSpPr/>
          <p:nvPr/>
        </p:nvSpPr>
        <p:spPr>
          <a:xfrm>
            <a:off x="482600" y="3149600"/>
            <a:ext cx="5499100" cy="11176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33020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D2E58B"/>
                </a:solidFill>
                <a:latin typeface="Arial"/>
              </a:rPr>
              <a:t>03</a:t>
            </a:r>
          </a:p>
        </p:txBody>
      </p:sp>
      <p:sp>
        <p:nvSpPr>
          <p:cNvPr id="18" name="TextBox 17"/>
          <p:cNvSpPr txBox="1"/>
          <p:nvPr/>
        </p:nvSpPr>
        <p:spPr>
          <a:xfrm>
            <a:off x="1117600" y="3276600"/>
            <a:ext cx="46863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FFFFFF"/>
                </a:solidFill>
                <a:latin typeface="Arial"/>
              </a:rPr>
              <a:t>Verify</a:t>
            </a:r>
          </a:p>
        </p:txBody>
      </p:sp>
      <p:sp>
        <p:nvSpPr>
          <p:cNvPr id="19" name="TextBox 18"/>
          <p:cNvSpPr txBox="1"/>
          <p:nvPr/>
        </p:nvSpPr>
        <p:spPr>
          <a:xfrm>
            <a:off x="1117600" y="3543300"/>
            <a:ext cx="4673600" cy="7239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E6EDDF"/>
                </a:solidFill>
                <a:latin typeface="Arial"/>
              </a:rPr>
              <a:t>Open page 3; then ask an out-of-document question.</a:t>
            </a:r>
          </a:p>
        </p:txBody>
      </p:sp>
      <p:sp>
        <p:nvSpPr>
          <p:cNvPr id="20" name="Rounded Rectangle 19"/>
          <p:cNvSpPr/>
          <p:nvPr/>
        </p:nvSpPr>
        <p:spPr>
          <a:xfrm>
            <a:off x="6210300" y="3149600"/>
            <a:ext cx="5499100" cy="1117600"/>
          </a:xfrm>
          <a:prstGeom prst="roundRect">
            <a:avLst>
              <a:gd name="adj" fmla="val 8000"/>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8100" y="33020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D2E58B"/>
                </a:solidFill>
                <a:latin typeface="Arial"/>
              </a:rPr>
              <a:t>04</a:t>
            </a:r>
          </a:p>
        </p:txBody>
      </p:sp>
      <p:sp>
        <p:nvSpPr>
          <p:cNvPr id="22" name="TextBox 21"/>
          <p:cNvSpPr txBox="1"/>
          <p:nvPr/>
        </p:nvSpPr>
        <p:spPr>
          <a:xfrm>
            <a:off x="6845300" y="3276600"/>
            <a:ext cx="46863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FFFFFF"/>
                </a:solidFill>
                <a:latin typeface="Arial"/>
              </a:rPr>
              <a:t>Practise</a:t>
            </a:r>
          </a:p>
        </p:txBody>
      </p:sp>
      <p:sp>
        <p:nvSpPr>
          <p:cNvPr id="23" name="TextBox 22"/>
          <p:cNvSpPr txBox="1"/>
          <p:nvPr/>
        </p:nvSpPr>
        <p:spPr>
          <a:xfrm>
            <a:off x="6845300" y="3543300"/>
            <a:ext cx="4673600" cy="7239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E6EDDF"/>
                </a:solidFill>
                <a:latin typeface="Arial"/>
              </a:rPr>
              <a:t>Quiz preview → confirm → submit → progress; flip a saved</a:t>
            </a:r>
            <a:br/>
            <a:r>
              <a:rPr sz="1300" b="0">
                <a:solidFill>
                  <a:srgbClr val="E6EDDF"/>
                </a:solidFill>
                <a:latin typeface="Arial"/>
              </a:rPr>
              <a:t>card.</a:t>
            </a:r>
          </a:p>
        </p:txBody>
      </p:sp>
      <p:sp>
        <p:nvSpPr>
          <p:cNvPr id="24" name="TextBox 23"/>
          <p:cNvSpPr txBox="1"/>
          <p:nvPr/>
        </p:nvSpPr>
        <p:spPr>
          <a:xfrm>
            <a:off x="508000" y="4508500"/>
            <a:ext cx="11150600" cy="863600"/>
          </a:xfrm>
          <a:prstGeom prst="rect">
            <a:avLst/>
          </a:prstGeom>
          <a:noFill/>
        </p:spPr>
        <p:txBody>
          <a:bodyPr wrap="none" lIns="0" rIns="0" tIns="0" bIns="0" anchor="t">
            <a:spAutoFit/>
          </a:bodyPr>
          <a:lstStyle/>
          <a:p>
            <a:pPr algn="l">
              <a:lnSpc>
                <a:spcPts val="2668"/>
              </a:lnSpc>
              <a:spcBef>
                <a:spcPts val="0"/>
              </a:spcBef>
              <a:spcAft>
                <a:spcPts val="0"/>
              </a:spcAft>
            </a:pPr>
            <a:r>
              <a:rPr sz="2300" b="0">
                <a:solidFill>
                  <a:srgbClr val="FFFFFF"/>
                </a:solidFill>
                <a:latin typeface="Georgia"/>
              </a:rPr>
              <a:t>“What happens when the Round Robin time quantum is very small?”</a:t>
            </a:r>
          </a:p>
        </p:txBody>
      </p:sp>
      <p:sp>
        <p:nvSpPr>
          <p:cNvPr id="25" name="Rounded Rectangle 24"/>
          <p:cNvSpPr/>
          <p:nvPr/>
        </p:nvSpPr>
        <p:spPr>
          <a:xfrm>
            <a:off x="482600" y="5626100"/>
            <a:ext cx="11226800" cy="495300"/>
          </a:xfrm>
          <a:prstGeom prst="roundRect">
            <a:avLst>
              <a:gd name="adj" fmla="val 8000"/>
            </a:avLst>
          </a:prstGeom>
          <a:solidFill>
            <a:srgbClr val="D2E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740400"/>
            <a:ext cx="10795000" cy="355600"/>
          </a:xfrm>
          <a:prstGeom prst="rect">
            <a:avLst/>
          </a:prstGeom>
          <a:noFill/>
        </p:spPr>
        <p:txBody>
          <a:bodyPr wrap="none" lIns="0" rIns="0" tIns="0" bIns="0" anchor="t">
            <a:spAutoFit/>
          </a:bodyPr>
          <a:lstStyle/>
          <a:p>
            <a:pPr algn="l">
              <a:lnSpc>
                <a:spcPts val="1972"/>
              </a:lnSpc>
              <a:spcBef>
                <a:spcPts val="0"/>
              </a:spcBef>
              <a:spcAft>
                <a:spcPts val="0"/>
              </a:spcAft>
            </a:pPr>
            <a:r>
              <a:rPr sz="1700" b="1" u="none">
                <a:solidFill>
                  <a:srgbClr val="142D29"/>
                </a:solidFill>
                <a:latin typeface="Arial"/>
                <a:hlinkClick r:id="rId3"/>
              </a:rPr>
              <a:t>http://127.0.0.1:8080 ↗ OPEN THE LOCAL 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CAPABILITY C / STRUCTURED OUTPUT</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06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711"/>
              </a:lnSpc>
              <a:spcBef>
                <a:spcPts val="0"/>
              </a:spcBef>
              <a:spcAft>
                <a:spcPts val="0"/>
              </a:spcAft>
            </a:pPr>
            <a:r>
              <a:rPr sz="3200" b="0">
                <a:solidFill>
                  <a:srgbClr val="18372F"/>
                </a:solidFill>
                <a:latin typeface="Georgia"/>
              </a:rPr>
              <a:t>Capability C: preview becomes usable practice</a:t>
            </a:r>
          </a:p>
        </p:txBody>
      </p:sp>
      <p:sp>
        <p:nvSpPr>
          <p:cNvPr id="8" name="Rounded Rectangle 7"/>
          <p:cNvSpPr/>
          <p:nvPr/>
        </p:nvSpPr>
        <p:spPr>
          <a:xfrm>
            <a:off x="482600" y="1879600"/>
            <a:ext cx="5562600" cy="838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20320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01</a:t>
            </a:r>
          </a:p>
        </p:txBody>
      </p:sp>
      <p:sp>
        <p:nvSpPr>
          <p:cNvPr id="10" name="TextBox 9"/>
          <p:cNvSpPr txBox="1"/>
          <p:nvPr/>
        </p:nvSpPr>
        <p:spPr>
          <a:xfrm>
            <a:off x="1117600" y="2006600"/>
            <a:ext cx="47498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Preview</a:t>
            </a:r>
          </a:p>
        </p:txBody>
      </p:sp>
      <p:sp>
        <p:nvSpPr>
          <p:cNvPr id="11" name="TextBox 10"/>
          <p:cNvSpPr txBox="1"/>
          <p:nvPr/>
        </p:nvSpPr>
        <p:spPr>
          <a:xfrm>
            <a:off x="1117600" y="2273300"/>
            <a:ext cx="4737100" cy="444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Ready document · count/language · evidence-bound JSON.</a:t>
            </a:r>
          </a:p>
        </p:txBody>
      </p:sp>
      <p:sp>
        <p:nvSpPr>
          <p:cNvPr id="12" name="Rounded Rectangle 11"/>
          <p:cNvSpPr/>
          <p:nvPr/>
        </p:nvSpPr>
        <p:spPr>
          <a:xfrm>
            <a:off x="482600" y="2794000"/>
            <a:ext cx="5562600" cy="838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400" y="29464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02</a:t>
            </a:r>
          </a:p>
        </p:txBody>
      </p:sp>
      <p:sp>
        <p:nvSpPr>
          <p:cNvPr id="14" name="TextBox 13"/>
          <p:cNvSpPr txBox="1"/>
          <p:nvPr/>
        </p:nvSpPr>
        <p:spPr>
          <a:xfrm>
            <a:off x="1117600" y="2921000"/>
            <a:ext cx="47498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Confirm</a:t>
            </a:r>
          </a:p>
        </p:txBody>
      </p:sp>
      <p:sp>
        <p:nvSpPr>
          <p:cNvPr id="15" name="TextBox 14"/>
          <p:cNvSpPr txBox="1"/>
          <p:nvPr/>
        </p:nvSpPr>
        <p:spPr>
          <a:xfrm>
            <a:off x="1117600" y="3187700"/>
            <a:ext cx="4737100" cy="444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Explicit save of a server-issued draft; private immutable</a:t>
            </a:r>
            <a:br/>
            <a:r>
              <a:rPr sz="1300" b="0">
                <a:solidFill>
                  <a:srgbClr val="586A62"/>
                </a:solidFill>
                <a:latin typeface="Arial"/>
              </a:rPr>
              <a:t>snapshot.</a:t>
            </a:r>
          </a:p>
        </p:txBody>
      </p:sp>
      <p:sp>
        <p:nvSpPr>
          <p:cNvPr id="16" name="Rounded Rectangle 15"/>
          <p:cNvSpPr/>
          <p:nvPr/>
        </p:nvSpPr>
        <p:spPr>
          <a:xfrm>
            <a:off x="482600" y="3708400"/>
            <a:ext cx="5562600" cy="838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38608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03</a:t>
            </a:r>
          </a:p>
        </p:txBody>
      </p:sp>
      <p:sp>
        <p:nvSpPr>
          <p:cNvPr id="18" name="TextBox 17"/>
          <p:cNvSpPr txBox="1"/>
          <p:nvPr/>
        </p:nvSpPr>
        <p:spPr>
          <a:xfrm>
            <a:off x="1117600" y="3835400"/>
            <a:ext cx="47498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Quiz</a:t>
            </a:r>
          </a:p>
        </p:txBody>
      </p:sp>
      <p:sp>
        <p:nvSpPr>
          <p:cNvPr id="19" name="TextBox 18"/>
          <p:cNvSpPr txBox="1"/>
          <p:nvPr/>
        </p:nvSpPr>
        <p:spPr>
          <a:xfrm>
            <a:off x="1117600" y="4102100"/>
            <a:ext cx="4737100" cy="444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Server grades stored answers; attempts and progress persist.</a:t>
            </a:r>
          </a:p>
        </p:txBody>
      </p:sp>
      <p:sp>
        <p:nvSpPr>
          <p:cNvPr id="20" name="Rounded Rectangle 19"/>
          <p:cNvSpPr/>
          <p:nvPr/>
        </p:nvSpPr>
        <p:spPr>
          <a:xfrm>
            <a:off x="482600" y="4622800"/>
            <a:ext cx="5562600" cy="838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0400" y="4775200"/>
            <a:ext cx="317500" cy="3556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B85B34"/>
                </a:solidFill>
                <a:latin typeface="Arial"/>
              </a:rPr>
              <a:t>04</a:t>
            </a:r>
          </a:p>
        </p:txBody>
      </p:sp>
      <p:sp>
        <p:nvSpPr>
          <p:cNvPr id="22" name="TextBox 21"/>
          <p:cNvSpPr txBox="1"/>
          <p:nvPr/>
        </p:nvSpPr>
        <p:spPr>
          <a:xfrm>
            <a:off x="1117600" y="4749800"/>
            <a:ext cx="4749800" cy="330200"/>
          </a:xfrm>
          <a:prstGeom prst="rect">
            <a:avLst/>
          </a:prstGeom>
          <a:noFill/>
        </p:spPr>
        <p:txBody>
          <a:bodyPr wrap="none" lIns="0" rIns="0" tIns="0" bIns="0" anchor="t">
            <a:spAutoFit/>
          </a:bodyPr>
          <a:lstStyle/>
          <a:p>
            <a:pPr algn="l">
              <a:lnSpc>
                <a:spcPts val="1972"/>
              </a:lnSpc>
              <a:spcBef>
                <a:spcPts val="0"/>
              </a:spcBef>
              <a:spcAft>
                <a:spcPts val="0"/>
              </a:spcAft>
            </a:pPr>
            <a:r>
              <a:rPr sz="1700" b="1">
                <a:solidFill>
                  <a:srgbClr val="18372F"/>
                </a:solidFill>
                <a:latin typeface="Arial"/>
              </a:rPr>
              <a:t>Flashcards</a:t>
            </a:r>
          </a:p>
        </p:txBody>
      </p:sp>
      <p:sp>
        <p:nvSpPr>
          <p:cNvPr id="23" name="TextBox 22"/>
          <p:cNvSpPr txBox="1"/>
          <p:nvPr/>
        </p:nvSpPr>
        <p:spPr>
          <a:xfrm>
            <a:off x="1117600" y="5016500"/>
            <a:ext cx="4737100" cy="4445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Flip → self-rate → explicitly save a completed review.</a:t>
            </a:r>
          </a:p>
        </p:txBody>
      </p:sp>
      <p:sp>
        <p:nvSpPr>
          <p:cNvPr id="24" name="Rounded Rectangle 23"/>
          <p:cNvSpPr/>
          <p:nvPr/>
        </p:nvSpPr>
        <p:spPr>
          <a:xfrm>
            <a:off x="6286500" y="1879600"/>
            <a:ext cx="5422900" cy="37465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quiz-result.png"/>
          <p:cNvPicPr>
            <a:picLocks noChangeAspect="1"/>
          </p:cNvPicPr>
          <p:nvPr/>
        </p:nvPicPr>
        <p:blipFill>
          <a:blip r:embed="rId3"/>
          <a:stretch>
            <a:fillRect/>
          </a:stretch>
        </p:blipFill>
        <p:spPr>
          <a:xfrm>
            <a:off x="6472288" y="2006600"/>
            <a:ext cx="5051322" cy="3479800"/>
          </a:xfrm>
          <a:prstGeom prst="rect">
            <a:avLst/>
          </a:prstGeom>
        </p:spPr>
      </p:pic>
      <p:sp>
        <p:nvSpPr>
          <p:cNvPr id="26" name="TextBox 25"/>
          <p:cNvSpPr txBox="1"/>
          <p:nvPr/>
        </p:nvSpPr>
        <p:spPr>
          <a:xfrm>
            <a:off x="6337300" y="5676900"/>
            <a:ext cx="5283200" cy="457200"/>
          </a:xfrm>
          <a:prstGeom prst="rect">
            <a:avLst/>
          </a:prstGeom>
          <a:noFill/>
        </p:spPr>
        <p:txBody>
          <a:bodyPr wrap="none" lIns="0" rIns="0" tIns="0" bIns="0" anchor="t">
            <a:spAutoFit/>
          </a:bodyPr>
          <a:lstStyle/>
          <a:p>
            <a:pPr algn="l">
              <a:lnSpc>
                <a:spcPts val="1160"/>
              </a:lnSpc>
              <a:spcBef>
                <a:spcPts val="0"/>
              </a:spcBef>
              <a:spcAft>
                <a:spcPts val="0"/>
              </a:spcAft>
            </a:pPr>
            <a:r>
              <a:rPr sz="1000" b="0">
                <a:solidFill>
                  <a:srgbClr val="586A62"/>
                </a:solidFill>
                <a:latin typeface="Arial"/>
              </a:rPr>
              <a:t>Historical fixture: real server grading, synthetic provider. Self-rating is not an AI grade.</a:t>
            </a:r>
          </a:p>
        </p:txBody>
      </p:sp>
      <p:sp>
        <p:nvSpPr>
          <p:cNvPr id="27" name="TextBox 26"/>
          <p:cNvSpPr txBox="1"/>
          <p:nvPr/>
        </p:nvSpPr>
        <p:spPr>
          <a:xfrm>
            <a:off x="482600" y="5676900"/>
            <a:ext cx="5588000" cy="4445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335D49"/>
                </a:solidFill>
                <a:latin typeface="Arial"/>
              </a:rPr>
              <a:t>Practice and progress do not call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STREAMING / SPEECH INPUT</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THẮNG</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07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596"/>
              </a:lnSpc>
              <a:spcBef>
                <a:spcPts val="0"/>
              </a:spcBef>
              <a:spcAft>
                <a:spcPts val="0"/>
              </a:spcAft>
            </a:pPr>
            <a:r>
              <a:rPr sz="3100" b="0">
                <a:solidFill>
                  <a:srgbClr val="18372F"/>
                </a:solidFill>
                <a:latin typeface="Georgia"/>
              </a:rPr>
              <a:t>Streaming and local voice, under user control</a:t>
            </a:r>
          </a:p>
        </p:txBody>
      </p:sp>
      <p:sp>
        <p:nvSpPr>
          <p:cNvPr id="8" name="Rounded Rectangle 7"/>
          <p:cNvSpPr/>
          <p:nvPr/>
        </p:nvSpPr>
        <p:spPr>
          <a:xfrm>
            <a:off x="482600" y="1905000"/>
            <a:ext cx="5499100" cy="33655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600" y="2146300"/>
            <a:ext cx="4965700" cy="304800"/>
          </a:xfrm>
          <a:prstGeom prst="rect">
            <a:avLst/>
          </a:prstGeom>
          <a:noFill/>
        </p:spPr>
        <p:txBody>
          <a:bodyPr wrap="none" lIns="0" rIns="0" tIns="0" bIns="0" anchor="t">
            <a:spAutoFit/>
          </a:bodyPr>
          <a:lstStyle/>
          <a:p>
            <a:pPr algn="l">
              <a:lnSpc>
                <a:spcPts val="1391"/>
              </a:lnSpc>
              <a:spcBef>
                <a:spcPts val="0"/>
              </a:spcBef>
              <a:spcAft>
                <a:spcPts val="0"/>
              </a:spcAft>
            </a:pPr>
            <a:r>
              <a:rPr sz="1200" b="1">
                <a:solidFill>
                  <a:srgbClr val="B85B34"/>
                </a:solidFill>
                <a:latin typeface="Arial"/>
              </a:rPr>
              <a:t>SSE / LIVE RESPONSE</a:t>
            </a:r>
          </a:p>
        </p:txBody>
      </p:sp>
      <p:sp>
        <p:nvSpPr>
          <p:cNvPr id="10" name="TextBox 9"/>
          <p:cNvSpPr txBox="1"/>
          <p:nvPr/>
        </p:nvSpPr>
        <p:spPr>
          <a:xfrm>
            <a:off x="736600" y="2679700"/>
            <a:ext cx="4940300" cy="1257300"/>
          </a:xfrm>
          <a:prstGeom prst="rect">
            <a:avLst/>
          </a:prstGeom>
          <a:noFill/>
        </p:spPr>
        <p:txBody>
          <a:bodyPr wrap="none" lIns="0" rIns="0" tIns="0" bIns="0" anchor="t">
            <a:spAutoFit/>
          </a:bodyPr>
          <a:lstStyle/>
          <a:p>
            <a:pPr algn="l">
              <a:lnSpc>
                <a:spcPts val="2668"/>
              </a:lnSpc>
              <a:spcBef>
                <a:spcPts val="0"/>
              </a:spcBef>
              <a:spcAft>
                <a:spcPts val="0"/>
              </a:spcAft>
            </a:pPr>
            <a:r>
              <a:rPr sz="2300" b="0">
                <a:solidFill>
                  <a:srgbClr val="18372F"/>
                </a:solidFill>
                <a:latin typeface="Georgia"/>
              </a:rPr>
              <a:t>General chat streams text; Stop</a:t>
            </a:r>
            <a:br/>
            <a:r>
              <a:rPr sz="2300" b="0">
                <a:solidFill>
                  <a:srgbClr val="18372F"/>
                </a:solidFill>
                <a:latin typeface="Georgia"/>
              </a:rPr>
              <a:t>aborts and ignores late output.</a:t>
            </a:r>
          </a:p>
        </p:txBody>
      </p:sp>
      <p:cxnSp>
        <p:nvCxnSpPr>
          <p:cNvPr id="11" name="Connector 10"/>
          <p:cNvCxnSpPr/>
          <p:nvPr/>
        </p:nvCxnSpPr>
        <p:spPr>
          <a:xfrm>
            <a:off x="736600" y="4140200"/>
            <a:ext cx="49657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6600" y="4356100"/>
            <a:ext cx="4940300" cy="7620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586A62"/>
                </a:solidFill>
                <a:latin typeface="Arial"/>
              </a:rPr>
              <a:t>Stream status; publish the answer after source</a:t>
            </a:r>
            <a:br/>
            <a:r>
              <a:rPr sz="1600" b="0">
                <a:solidFill>
                  <a:srgbClr val="586A62"/>
                </a:solidFill>
                <a:latin typeface="Arial"/>
              </a:rPr>
              <a:t>checks.</a:t>
            </a:r>
          </a:p>
        </p:txBody>
      </p:sp>
      <p:sp>
        <p:nvSpPr>
          <p:cNvPr id="13" name="Rounded Rectangle 12"/>
          <p:cNvSpPr/>
          <p:nvPr/>
        </p:nvSpPr>
        <p:spPr>
          <a:xfrm>
            <a:off x="6210300" y="1905000"/>
            <a:ext cx="5499100" cy="33655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300" y="2146300"/>
            <a:ext cx="4965700" cy="304800"/>
          </a:xfrm>
          <a:prstGeom prst="rect">
            <a:avLst/>
          </a:prstGeom>
          <a:noFill/>
        </p:spPr>
        <p:txBody>
          <a:bodyPr wrap="none" lIns="0" rIns="0" tIns="0" bIns="0" anchor="t">
            <a:spAutoFit/>
          </a:bodyPr>
          <a:lstStyle/>
          <a:p>
            <a:pPr algn="l">
              <a:lnSpc>
                <a:spcPts val="1391"/>
              </a:lnSpc>
              <a:spcBef>
                <a:spcPts val="0"/>
              </a:spcBef>
              <a:spcAft>
                <a:spcPts val="0"/>
              </a:spcAft>
            </a:pPr>
            <a:r>
              <a:rPr sz="1200" b="1">
                <a:solidFill>
                  <a:srgbClr val="B85B34"/>
                </a:solidFill>
                <a:latin typeface="Arial"/>
              </a:rPr>
              <a:t>STT / LOCAL WHISPER</a:t>
            </a:r>
          </a:p>
        </p:txBody>
      </p:sp>
      <p:sp>
        <p:nvSpPr>
          <p:cNvPr id="15" name="TextBox 14"/>
          <p:cNvSpPr txBox="1"/>
          <p:nvPr/>
        </p:nvSpPr>
        <p:spPr>
          <a:xfrm>
            <a:off x="6464300" y="2679700"/>
            <a:ext cx="4940300" cy="1257300"/>
          </a:xfrm>
          <a:prstGeom prst="rect">
            <a:avLst/>
          </a:prstGeom>
          <a:noFill/>
        </p:spPr>
        <p:txBody>
          <a:bodyPr wrap="none" lIns="0" rIns="0" tIns="0" bIns="0" anchor="t">
            <a:spAutoFit/>
          </a:bodyPr>
          <a:lstStyle/>
          <a:p>
            <a:pPr algn="l">
              <a:lnSpc>
                <a:spcPts val="2783"/>
              </a:lnSpc>
              <a:spcBef>
                <a:spcPts val="0"/>
              </a:spcBef>
              <a:spcAft>
                <a:spcPts val="0"/>
              </a:spcAft>
            </a:pPr>
            <a:r>
              <a:rPr sz="2400" b="0">
                <a:solidFill>
                  <a:srgbClr val="18372F"/>
                </a:solidFill>
                <a:latin typeface="Georgia"/>
              </a:rPr>
              <a:t>Record → transcribe</a:t>
            </a:r>
            <a:br/>
            <a:r>
              <a:rPr sz="2400" b="0">
                <a:solidFill>
                  <a:srgbClr val="18372F"/>
                </a:solidFill>
                <a:latin typeface="Georgia"/>
              </a:rPr>
              <a:t>Edit → insert → send</a:t>
            </a:r>
          </a:p>
        </p:txBody>
      </p:sp>
      <p:cxnSp>
        <p:nvCxnSpPr>
          <p:cNvPr id="16" name="Connector 15"/>
          <p:cNvCxnSpPr/>
          <p:nvPr/>
        </p:nvCxnSpPr>
        <p:spPr>
          <a:xfrm>
            <a:off x="6464300" y="4140200"/>
            <a:ext cx="49657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64300" y="4343400"/>
            <a:ext cx="4940300" cy="7747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586A62"/>
                </a:solidFill>
                <a:latin typeface="Arial"/>
              </a:rPr>
              <a:t>60 s audio / 120 s inference</a:t>
            </a:r>
            <a:br/>
            <a:r>
              <a:rPr sz="1600" b="0">
                <a:solidFill>
                  <a:srgbClr val="586A62"/>
                </a:solidFill>
                <a:latin typeface="Arial"/>
              </a:rPr>
              <a:t>150 s request / 180 s outer wait</a:t>
            </a:r>
          </a:p>
        </p:txBody>
      </p:sp>
      <p:sp>
        <p:nvSpPr>
          <p:cNvPr id="18" name="TextBox 17"/>
          <p:cNvSpPr txBox="1"/>
          <p:nvPr/>
        </p:nvSpPr>
        <p:spPr>
          <a:xfrm>
            <a:off x="482600" y="5549900"/>
            <a:ext cx="11137900" cy="546100"/>
          </a:xfrm>
          <a:prstGeom prst="rect">
            <a:avLst/>
          </a:prstGeom>
          <a:noFill/>
        </p:spPr>
        <p:txBody>
          <a:bodyPr wrap="none" lIns="0" rIns="0" tIns="0" bIns="0" anchor="t">
            <a:spAutoFit/>
          </a:bodyPr>
          <a:lstStyle/>
          <a:p>
            <a:pPr algn="l">
              <a:lnSpc>
                <a:spcPts val="1739"/>
              </a:lnSpc>
              <a:spcBef>
                <a:spcPts val="0"/>
              </a:spcBef>
              <a:spcAft>
                <a:spcPts val="0"/>
              </a:spcAft>
            </a:pPr>
            <a:r>
              <a:rPr sz="1500" b="1">
                <a:solidFill>
                  <a:srgbClr val="335D49"/>
                </a:solidFill>
                <a:latin typeface="Arial"/>
              </a:rPr>
              <a:t>Physical microphone and Vietnamese accuracy still need acceptance. Speech input does not make the whole application</a:t>
            </a:r>
            <a:br/>
            <a:r>
              <a:rPr sz="1500" b="1">
                <a:solidFill>
                  <a:srgbClr val="335D49"/>
                </a:solidFill>
                <a:latin typeface="Arial"/>
              </a:rPr>
              <a:t>offline.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ACCESS / VALIDATION / RECOVERY</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 + THẮNG</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08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596"/>
              </a:lnSpc>
              <a:spcBef>
                <a:spcPts val="0"/>
              </a:spcBef>
              <a:spcAft>
                <a:spcPts val="0"/>
              </a:spcAft>
            </a:pPr>
            <a:r>
              <a:rPr sz="3100" b="0">
                <a:solidFill>
                  <a:srgbClr val="18372F"/>
                </a:solidFill>
                <a:latin typeface="Georgia"/>
              </a:rPr>
              <a:t>Guardrails protect access and uncertain outcomes</a:t>
            </a:r>
          </a:p>
        </p:txBody>
      </p:sp>
      <p:sp>
        <p:nvSpPr>
          <p:cNvPr id="8" name="Rounded Rectangle 7"/>
          <p:cNvSpPr/>
          <p:nvPr/>
        </p:nvSpPr>
        <p:spPr>
          <a:xfrm>
            <a:off x="482600" y="1866900"/>
            <a:ext cx="5499100" cy="15240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044700"/>
            <a:ext cx="5016500" cy="3429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B85B34"/>
                </a:solidFill>
                <a:latin typeface="Arial"/>
              </a:rPr>
              <a:t>SCOPE</a:t>
            </a:r>
          </a:p>
        </p:txBody>
      </p:sp>
      <p:sp>
        <p:nvSpPr>
          <p:cNvPr id="10" name="TextBox 9"/>
          <p:cNvSpPr txBox="1"/>
          <p:nvPr/>
        </p:nvSpPr>
        <p:spPr>
          <a:xfrm>
            <a:off x="711200" y="2476500"/>
            <a:ext cx="5016500" cy="8255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Server principal + current membership + RLS;</a:t>
            </a:r>
            <a:br/>
            <a:r>
              <a:rPr sz="1800" b="0">
                <a:solidFill>
                  <a:srgbClr val="18372F"/>
                </a:solidFill>
                <a:latin typeface="Arial"/>
              </a:rPr>
              <a:t>never trust a client role.</a:t>
            </a:r>
          </a:p>
        </p:txBody>
      </p:sp>
      <p:sp>
        <p:nvSpPr>
          <p:cNvPr id="11" name="Rounded Rectangle 10"/>
          <p:cNvSpPr/>
          <p:nvPr/>
        </p:nvSpPr>
        <p:spPr>
          <a:xfrm>
            <a:off x="6210300" y="1866900"/>
            <a:ext cx="5499100" cy="15240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8900" y="2044700"/>
            <a:ext cx="5016500" cy="3429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B85B34"/>
                </a:solidFill>
                <a:latin typeface="Arial"/>
              </a:rPr>
              <a:t>EVIDENCE</a:t>
            </a:r>
          </a:p>
        </p:txBody>
      </p:sp>
      <p:sp>
        <p:nvSpPr>
          <p:cNvPr id="13" name="TextBox 12"/>
          <p:cNvSpPr txBox="1"/>
          <p:nvPr/>
        </p:nvSpPr>
        <p:spPr>
          <a:xfrm>
            <a:off x="6438900" y="2476500"/>
            <a:ext cx="5016500" cy="8255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Treat document text as untrusted; refuse</a:t>
            </a:r>
            <a:br/>
            <a:r>
              <a:rPr sz="1800" b="0">
                <a:solidFill>
                  <a:srgbClr val="18372F"/>
                </a:solidFill>
                <a:latin typeface="Arial"/>
              </a:rPr>
              <a:t>unsupported answers.</a:t>
            </a:r>
          </a:p>
        </p:txBody>
      </p:sp>
      <p:sp>
        <p:nvSpPr>
          <p:cNvPr id="14" name="Rounded Rectangle 13"/>
          <p:cNvSpPr/>
          <p:nvPr/>
        </p:nvSpPr>
        <p:spPr>
          <a:xfrm>
            <a:off x="482600" y="3556000"/>
            <a:ext cx="5499100" cy="15240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200" y="3733800"/>
            <a:ext cx="5016500" cy="3429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B85B34"/>
                </a:solidFill>
                <a:latin typeface="Arial"/>
              </a:rPr>
              <a:t>VALIDATION</a:t>
            </a:r>
          </a:p>
        </p:txBody>
      </p:sp>
      <p:sp>
        <p:nvSpPr>
          <p:cNvPr id="16" name="TextBox 15"/>
          <p:cNvSpPr txBox="1"/>
          <p:nvPr/>
        </p:nvSpPr>
        <p:spPr>
          <a:xfrm>
            <a:off x="711200" y="4165600"/>
            <a:ext cx="5016500" cy="8255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Reject malformed structure or invented sources;</a:t>
            </a:r>
            <a:br/>
            <a:r>
              <a:rPr sz="1800" b="0">
                <a:solidFill>
                  <a:srgbClr val="18372F"/>
                </a:solidFill>
                <a:latin typeface="Arial"/>
              </a:rPr>
              <a:t>no silent repair loop.</a:t>
            </a:r>
          </a:p>
        </p:txBody>
      </p:sp>
      <p:sp>
        <p:nvSpPr>
          <p:cNvPr id="17" name="Rounded Rectangle 16"/>
          <p:cNvSpPr/>
          <p:nvPr/>
        </p:nvSpPr>
        <p:spPr>
          <a:xfrm>
            <a:off x="6210300" y="3556000"/>
            <a:ext cx="5499100" cy="15240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900" y="3733800"/>
            <a:ext cx="5016500" cy="3429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B85B34"/>
                </a:solidFill>
                <a:latin typeface="Arial"/>
              </a:rPr>
              <a:t>RECOVERY</a:t>
            </a:r>
          </a:p>
        </p:txBody>
      </p:sp>
      <p:sp>
        <p:nvSpPr>
          <p:cNvPr id="19" name="TextBox 18"/>
          <p:cNvSpPr txBox="1"/>
          <p:nvPr/>
        </p:nvSpPr>
        <p:spPr>
          <a:xfrm>
            <a:off x="6438900" y="4165600"/>
            <a:ext cx="5016500" cy="8255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Keep submission identity after uncertain writes;</a:t>
            </a:r>
            <a:br/>
            <a:r>
              <a:rPr sz="1800" b="0">
                <a:solidFill>
                  <a:srgbClr val="18372F"/>
                </a:solidFill>
                <a:latin typeface="Arial"/>
              </a:rPr>
              <a:t>reconcile safely.</a:t>
            </a:r>
          </a:p>
        </p:txBody>
      </p:sp>
      <p:sp>
        <p:nvSpPr>
          <p:cNvPr id="20" name="TextBox 19"/>
          <p:cNvSpPr txBox="1"/>
          <p:nvPr/>
        </p:nvSpPr>
        <p:spPr>
          <a:xfrm>
            <a:off x="482600" y="5448300"/>
            <a:ext cx="11226800" cy="660400"/>
          </a:xfrm>
          <a:prstGeom prst="rect">
            <a:avLst/>
          </a:prstGeom>
          <a:noFill/>
        </p:spPr>
        <p:txBody>
          <a:bodyPr wrap="none" lIns="0" rIns="0" tIns="0" bIns="0" anchor="t">
            <a:spAutoFit/>
          </a:bodyPr>
          <a:lstStyle/>
          <a:p>
            <a:pPr algn="l">
              <a:lnSpc>
                <a:spcPts val="1739"/>
              </a:lnSpc>
              <a:spcBef>
                <a:spcPts val="0"/>
              </a:spcBef>
              <a:spcAft>
                <a:spcPts val="0"/>
              </a:spcAft>
            </a:pPr>
            <a:r>
              <a:rPr sz="1500" b="1">
                <a:solidFill>
                  <a:srgbClr val="335D49"/>
                </a:solidFill>
                <a:latin typeface="Arial"/>
              </a:rPr>
              <a:t>AI failure is visible; independent non-AI screens remain usable.</a:t>
            </a:r>
            <a:br/>
            <a:r>
              <a:rPr sz="1500" b="1">
                <a:solidFill>
                  <a:srgbClr val="335D49"/>
                </a:solidFill>
                <a:latin typeface="Arial"/>
              </a:rPr>
              <a:t>Injection resistance is inconclusive without the exact model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VERIFICATION / RETAINED OBSERVATIONS</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09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596"/>
              </a:lnSpc>
              <a:spcBef>
                <a:spcPts val="0"/>
              </a:spcBef>
              <a:spcAft>
                <a:spcPts val="0"/>
              </a:spcAft>
            </a:pPr>
            <a:r>
              <a:rPr sz="3100" b="0">
                <a:solidFill>
                  <a:srgbClr val="18372F"/>
                </a:solidFill>
                <a:latin typeface="Georgia"/>
              </a:rPr>
              <a:t>Verification: identify what each layer proves</a:t>
            </a:r>
          </a:p>
        </p:txBody>
      </p:sp>
      <p:sp>
        <p:nvSpPr>
          <p:cNvPr id="8" name="Rounded Rectangle 7"/>
          <p:cNvSpPr/>
          <p:nvPr/>
        </p:nvSpPr>
        <p:spPr>
          <a:xfrm>
            <a:off x="482600" y="1993900"/>
            <a:ext cx="3606800" cy="26162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2247900"/>
            <a:ext cx="3136900" cy="850900"/>
          </a:xfrm>
          <a:prstGeom prst="rect">
            <a:avLst/>
          </a:prstGeom>
          <a:noFill/>
        </p:spPr>
        <p:txBody>
          <a:bodyPr wrap="none" lIns="0" rIns="0" tIns="0" bIns="0" anchor="t">
            <a:spAutoFit/>
          </a:bodyPr>
          <a:lstStyle/>
          <a:p>
            <a:pPr algn="l">
              <a:lnSpc>
                <a:spcPts val="4988"/>
              </a:lnSpc>
              <a:spcBef>
                <a:spcPts val="0"/>
              </a:spcBef>
              <a:spcAft>
                <a:spcPts val="0"/>
              </a:spcAft>
            </a:pPr>
            <a:r>
              <a:rPr sz="4300" b="0">
                <a:solidFill>
                  <a:srgbClr val="335D49"/>
                </a:solidFill>
                <a:latin typeface="Georgia"/>
              </a:rPr>
              <a:t>2,324</a:t>
            </a:r>
          </a:p>
        </p:txBody>
      </p:sp>
      <p:sp>
        <p:nvSpPr>
          <p:cNvPr id="10" name="TextBox 9"/>
          <p:cNvSpPr txBox="1"/>
          <p:nvPr/>
        </p:nvSpPr>
        <p:spPr>
          <a:xfrm>
            <a:off x="723900" y="3225800"/>
            <a:ext cx="3149600" cy="279400"/>
          </a:xfrm>
          <a:prstGeom prst="rect">
            <a:avLst/>
          </a:prstGeom>
          <a:noFill/>
        </p:spPr>
        <p:txBody>
          <a:bodyPr wrap="none" lIns="0" rIns="0" tIns="0" bIns="0" anchor="t">
            <a:spAutoFit/>
          </a:bodyPr>
          <a:lstStyle/>
          <a:p>
            <a:pPr algn="l">
              <a:lnSpc>
                <a:spcPts val="1276"/>
              </a:lnSpc>
              <a:spcBef>
                <a:spcPts val="0"/>
              </a:spcBef>
              <a:spcAft>
                <a:spcPts val="0"/>
              </a:spcAft>
            </a:pPr>
            <a:r>
              <a:rPr sz="1100" b="1">
                <a:solidFill>
                  <a:srgbClr val="B85B34"/>
                </a:solidFill>
                <a:latin typeface="Arial"/>
              </a:rPr>
              <a:t>APPLICATION TESTS</a:t>
            </a:r>
          </a:p>
        </p:txBody>
      </p:sp>
      <p:sp>
        <p:nvSpPr>
          <p:cNvPr id="11" name="TextBox 10"/>
          <p:cNvSpPr txBox="1"/>
          <p:nvPr/>
        </p:nvSpPr>
        <p:spPr>
          <a:xfrm>
            <a:off x="723900" y="3708400"/>
            <a:ext cx="3149600" cy="6985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586A62"/>
                </a:solidFill>
                <a:latin typeface="Arial"/>
              </a:rPr>
              <a:t>API Vitest 460 + Node 1,317</a:t>
            </a:r>
            <a:br/>
            <a:r>
              <a:rPr sz="1600" b="0">
                <a:solidFill>
                  <a:srgbClr val="586A62"/>
                </a:solidFill>
                <a:latin typeface="Arial"/>
              </a:rPr>
              <a:t>Web 547</a:t>
            </a:r>
          </a:p>
        </p:txBody>
      </p:sp>
      <p:sp>
        <p:nvSpPr>
          <p:cNvPr id="12" name="Rounded Rectangle 11"/>
          <p:cNvSpPr/>
          <p:nvPr/>
        </p:nvSpPr>
        <p:spPr>
          <a:xfrm>
            <a:off x="4292600" y="1993900"/>
            <a:ext cx="3606800" cy="26162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900" y="2247900"/>
            <a:ext cx="3136900" cy="850900"/>
          </a:xfrm>
          <a:prstGeom prst="rect">
            <a:avLst/>
          </a:prstGeom>
          <a:noFill/>
        </p:spPr>
        <p:txBody>
          <a:bodyPr wrap="none" lIns="0" rIns="0" tIns="0" bIns="0" anchor="t">
            <a:spAutoFit/>
          </a:bodyPr>
          <a:lstStyle/>
          <a:p>
            <a:pPr algn="l">
              <a:lnSpc>
                <a:spcPts val="4988"/>
              </a:lnSpc>
              <a:spcBef>
                <a:spcPts val="0"/>
              </a:spcBef>
              <a:spcAft>
                <a:spcPts val="0"/>
              </a:spcAft>
            </a:pPr>
            <a:r>
              <a:rPr sz="4300" b="0">
                <a:solidFill>
                  <a:srgbClr val="335D49"/>
                </a:solidFill>
                <a:latin typeface="Georgia"/>
              </a:rPr>
              <a:t>521/521</a:t>
            </a:r>
          </a:p>
        </p:txBody>
      </p:sp>
      <p:sp>
        <p:nvSpPr>
          <p:cNvPr id="14" name="TextBox 13"/>
          <p:cNvSpPr txBox="1"/>
          <p:nvPr/>
        </p:nvSpPr>
        <p:spPr>
          <a:xfrm>
            <a:off x="4533900" y="3225800"/>
            <a:ext cx="3149600" cy="279400"/>
          </a:xfrm>
          <a:prstGeom prst="rect">
            <a:avLst/>
          </a:prstGeom>
          <a:noFill/>
        </p:spPr>
        <p:txBody>
          <a:bodyPr wrap="none" lIns="0" rIns="0" tIns="0" bIns="0" anchor="t">
            <a:spAutoFit/>
          </a:bodyPr>
          <a:lstStyle/>
          <a:p>
            <a:pPr algn="l">
              <a:lnSpc>
                <a:spcPts val="1276"/>
              </a:lnSpc>
              <a:spcBef>
                <a:spcPts val="0"/>
              </a:spcBef>
              <a:spcAft>
                <a:spcPts val="0"/>
              </a:spcAft>
            </a:pPr>
            <a:r>
              <a:rPr sz="1100" b="1">
                <a:solidFill>
                  <a:srgbClr val="B85B34"/>
                </a:solidFill>
                <a:latin typeface="Arial"/>
              </a:rPr>
              <a:t>CANONICAL PG17</a:t>
            </a:r>
          </a:p>
        </p:txBody>
      </p:sp>
      <p:sp>
        <p:nvSpPr>
          <p:cNvPr id="15" name="TextBox 14"/>
          <p:cNvSpPr txBox="1"/>
          <p:nvPr/>
        </p:nvSpPr>
        <p:spPr>
          <a:xfrm>
            <a:off x="4533900" y="3708400"/>
            <a:ext cx="3149600" cy="6985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586A62"/>
                </a:solidFill>
                <a:latin typeface="Arial"/>
              </a:rPr>
              <a:t>Managed-profile fixture 1/1</a:t>
            </a:r>
            <a:br/>
            <a:r>
              <a:rPr sz="1600" b="0">
                <a:solidFill>
                  <a:srgbClr val="586A62"/>
                </a:solidFill>
                <a:latin typeface="Arial"/>
              </a:rPr>
              <a:t>reported separately</a:t>
            </a:r>
          </a:p>
        </p:txBody>
      </p:sp>
      <p:sp>
        <p:nvSpPr>
          <p:cNvPr id="16" name="Rounded Rectangle 15"/>
          <p:cNvSpPr/>
          <p:nvPr/>
        </p:nvSpPr>
        <p:spPr>
          <a:xfrm>
            <a:off x="8102600" y="1993900"/>
            <a:ext cx="3606800" cy="26162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3900" y="2247900"/>
            <a:ext cx="3136900" cy="850900"/>
          </a:xfrm>
          <a:prstGeom prst="rect">
            <a:avLst/>
          </a:prstGeom>
          <a:noFill/>
        </p:spPr>
        <p:txBody>
          <a:bodyPr wrap="none" lIns="0" rIns="0" tIns="0" bIns="0" anchor="t">
            <a:spAutoFit/>
          </a:bodyPr>
          <a:lstStyle/>
          <a:p>
            <a:pPr algn="l">
              <a:lnSpc>
                <a:spcPts val="4988"/>
              </a:lnSpc>
              <a:spcBef>
                <a:spcPts val="0"/>
              </a:spcBef>
              <a:spcAft>
                <a:spcPts val="0"/>
              </a:spcAft>
            </a:pPr>
            <a:r>
              <a:rPr sz="4300" b="0">
                <a:solidFill>
                  <a:srgbClr val="335D49"/>
                </a:solidFill>
                <a:latin typeface="Georgia"/>
              </a:rPr>
              <a:t>45</a:t>
            </a:r>
          </a:p>
        </p:txBody>
      </p:sp>
      <p:sp>
        <p:nvSpPr>
          <p:cNvPr id="18" name="TextBox 17"/>
          <p:cNvSpPr txBox="1"/>
          <p:nvPr/>
        </p:nvSpPr>
        <p:spPr>
          <a:xfrm>
            <a:off x="8343900" y="3225800"/>
            <a:ext cx="3149600" cy="279400"/>
          </a:xfrm>
          <a:prstGeom prst="rect">
            <a:avLst/>
          </a:prstGeom>
          <a:noFill/>
        </p:spPr>
        <p:txBody>
          <a:bodyPr wrap="none" lIns="0" rIns="0" tIns="0" bIns="0" anchor="t">
            <a:spAutoFit/>
          </a:bodyPr>
          <a:lstStyle/>
          <a:p>
            <a:pPr algn="l">
              <a:lnSpc>
                <a:spcPts val="1276"/>
              </a:lnSpc>
              <a:spcBef>
                <a:spcPts val="0"/>
              </a:spcBef>
              <a:spcAft>
                <a:spcPts val="0"/>
              </a:spcAft>
            </a:pPr>
            <a:r>
              <a:rPr sz="1100" b="1">
                <a:solidFill>
                  <a:srgbClr val="B85B34"/>
                </a:solidFill>
                <a:latin typeface="Arial"/>
              </a:rPr>
              <a:t>REAL HTTP CHECKS</a:t>
            </a:r>
          </a:p>
        </p:txBody>
      </p:sp>
      <p:sp>
        <p:nvSpPr>
          <p:cNvPr id="19" name="TextBox 18"/>
          <p:cNvSpPr txBox="1"/>
          <p:nvPr/>
        </p:nvSpPr>
        <p:spPr>
          <a:xfrm>
            <a:off x="8343900" y="3708400"/>
            <a:ext cx="3149600" cy="6985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586A62"/>
                </a:solidFill>
                <a:latin typeface="Arial"/>
              </a:rPr>
              <a:t>Docker + managed026</a:t>
            </a:r>
            <a:br/>
            <a:r>
              <a:rPr sz="1600" b="0">
                <a:solidFill>
                  <a:srgbClr val="586A62"/>
                </a:solidFill>
                <a:latin typeface="Arial"/>
              </a:rPr>
              <a:t>Google login observed</a:t>
            </a:r>
          </a:p>
        </p:txBody>
      </p:sp>
      <p:sp>
        <p:nvSpPr>
          <p:cNvPr id="20" name="TextBox 19"/>
          <p:cNvSpPr txBox="1"/>
          <p:nvPr/>
        </p:nvSpPr>
        <p:spPr>
          <a:xfrm>
            <a:off x="508000" y="4927600"/>
            <a:ext cx="11112500" cy="6858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Browser integration: real Nest/PG17, synthetic upstreams for selected workflows. Real-service evidence is</a:t>
            </a:r>
            <a:br/>
            <a:r>
              <a:rPr sz="1800" b="0">
                <a:solidFill>
                  <a:srgbClr val="18372F"/>
                </a:solidFill>
                <a:latin typeface="Arial"/>
              </a:rPr>
              <a:t>identified separately.</a:t>
            </a:r>
          </a:p>
        </p:txBody>
      </p:sp>
      <p:sp>
        <p:nvSpPr>
          <p:cNvPr id="21" name="TextBox 20"/>
          <p:cNvSpPr txBox="1"/>
          <p:nvPr/>
        </p:nvSpPr>
        <p:spPr>
          <a:xfrm>
            <a:off x="508000" y="5778500"/>
            <a:ext cx="11112500" cy="3683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586A62"/>
                </a:solidFill>
                <a:latin typeface="Arial"/>
              </a:rPr>
              <a:t>These are 23 October records, not fresh execution for this export.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EVALUATION / PRESERVE THE DENOMINATOR</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10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596"/>
              </a:lnSpc>
              <a:spcBef>
                <a:spcPts val="0"/>
              </a:spcBef>
              <a:spcAft>
                <a:spcPts val="0"/>
              </a:spcAft>
            </a:pPr>
            <a:r>
              <a:rPr sz="3100" b="0">
                <a:solidFill>
                  <a:srgbClr val="18372F"/>
                </a:solidFill>
                <a:latin typeface="Georgia"/>
              </a:rPr>
              <a:t>Live evaluation: baseline and incomplete follow-up</a:t>
            </a:r>
          </a:p>
        </p:txBody>
      </p:sp>
      <p:sp>
        <p:nvSpPr>
          <p:cNvPr id="8" name="TextBox 7"/>
          <p:cNvSpPr txBox="1"/>
          <p:nvPr/>
        </p:nvSpPr>
        <p:spPr>
          <a:xfrm>
            <a:off x="508000" y="1816100"/>
            <a:ext cx="11074400" cy="5588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Same model, corpus and prompt. Retrieval threshold: 0.55 → 0.50.</a:t>
            </a:r>
          </a:p>
        </p:txBody>
      </p:sp>
      <p:sp>
        <p:nvSpPr>
          <p:cNvPr id="9" name="Rectangle 8"/>
          <p:cNvSpPr/>
          <p:nvPr/>
        </p:nvSpPr>
        <p:spPr>
          <a:xfrm>
            <a:off x="2819400" y="2451100"/>
            <a:ext cx="152400" cy="152400"/>
          </a:xfrm>
          <a:prstGeom prst="rect">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0700" y="2413000"/>
            <a:ext cx="2209800" cy="254000"/>
          </a:xfrm>
          <a:prstGeom prst="rect">
            <a:avLst/>
          </a:prstGeom>
          <a:noFill/>
        </p:spPr>
        <p:txBody>
          <a:bodyPr wrap="none" lIns="0" rIns="0" tIns="0" bIns="0" anchor="t">
            <a:spAutoFit/>
          </a:bodyPr>
          <a:lstStyle/>
          <a:p>
            <a:pPr algn="l">
              <a:lnSpc>
                <a:spcPts val="1160"/>
              </a:lnSpc>
              <a:spcBef>
                <a:spcPts val="0"/>
              </a:spcBef>
              <a:spcAft>
                <a:spcPts val="0"/>
              </a:spcAft>
            </a:pPr>
            <a:r>
              <a:rPr sz="1000" b="0">
                <a:solidFill>
                  <a:srgbClr val="586A62"/>
                </a:solidFill>
                <a:latin typeface="Arial"/>
              </a:rPr>
              <a:t>PASS</a:t>
            </a:r>
          </a:p>
        </p:txBody>
      </p:sp>
      <p:sp>
        <p:nvSpPr>
          <p:cNvPr id="11" name="Rectangle 10"/>
          <p:cNvSpPr/>
          <p:nvPr/>
        </p:nvSpPr>
        <p:spPr>
          <a:xfrm>
            <a:off x="4089400" y="2451100"/>
            <a:ext cx="152400" cy="152400"/>
          </a:xfrm>
          <a:prstGeom prst="rect">
            <a:avLst/>
          </a:prstGeom>
          <a:solidFill>
            <a:srgbClr val="B85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0700" y="2413000"/>
            <a:ext cx="2209800" cy="254000"/>
          </a:xfrm>
          <a:prstGeom prst="rect">
            <a:avLst/>
          </a:prstGeom>
          <a:noFill/>
        </p:spPr>
        <p:txBody>
          <a:bodyPr wrap="none" lIns="0" rIns="0" tIns="0" bIns="0" anchor="t">
            <a:spAutoFit/>
          </a:bodyPr>
          <a:lstStyle/>
          <a:p>
            <a:pPr algn="l">
              <a:lnSpc>
                <a:spcPts val="1160"/>
              </a:lnSpc>
              <a:spcBef>
                <a:spcPts val="0"/>
              </a:spcBef>
              <a:spcAft>
                <a:spcPts val="0"/>
              </a:spcAft>
            </a:pPr>
            <a:r>
              <a:rPr sz="1000" b="0">
                <a:solidFill>
                  <a:srgbClr val="586A62"/>
                </a:solidFill>
                <a:latin typeface="Arial"/>
              </a:rPr>
              <a:t>FAIL / provider error*</a:t>
            </a:r>
          </a:p>
        </p:txBody>
      </p:sp>
      <p:sp>
        <p:nvSpPr>
          <p:cNvPr id="13" name="Rectangle 12"/>
          <p:cNvSpPr/>
          <p:nvPr/>
        </p:nvSpPr>
        <p:spPr>
          <a:xfrm>
            <a:off x="6692900" y="2451100"/>
            <a:ext cx="152400" cy="152400"/>
          </a:xfrm>
          <a:prstGeom prst="rect">
            <a:avLst/>
          </a:prstGeom>
          <a:solidFill>
            <a:srgbClr val="F0D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4200" y="2413000"/>
            <a:ext cx="2209800" cy="254000"/>
          </a:xfrm>
          <a:prstGeom prst="rect">
            <a:avLst/>
          </a:prstGeom>
          <a:noFill/>
        </p:spPr>
        <p:txBody>
          <a:bodyPr wrap="none" lIns="0" rIns="0" tIns="0" bIns="0" anchor="t">
            <a:spAutoFit/>
          </a:bodyPr>
          <a:lstStyle/>
          <a:p>
            <a:pPr algn="l">
              <a:lnSpc>
                <a:spcPts val="1160"/>
              </a:lnSpc>
              <a:spcBef>
                <a:spcPts val="0"/>
              </a:spcBef>
              <a:spcAft>
                <a:spcPts val="0"/>
              </a:spcAft>
            </a:pPr>
            <a:r>
              <a:rPr sz="1000" b="0">
                <a:solidFill>
                  <a:srgbClr val="586A62"/>
                </a:solidFill>
                <a:latin typeface="Arial"/>
              </a:rPr>
              <a:t>INCONCLUSIVE</a:t>
            </a:r>
          </a:p>
        </p:txBody>
      </p:sp>
      <p:sp>
        <p:nvSpPr>
          <p:cNvPr id="15" name="Rectangle 14"/>
          <p:cNvSpPr/>
          <p:nvPr/>
        </p:nvSpPr>
        <p:spPr>
          <a:xfrm>
            <a:off x="8890000" y="2451100"/>
            <a:ext cx="152400" cy="152400"/>
          </a:xfrm>
          <a:prstGeom prst="rect">
            <a:avLst/>
          </a:prstGeom>
          <a:solidFill>
            <a:srgbClr val="E2E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1300" y="2413000"/>
            <a:ext cx="2209800" cy="254000"/>
          </a:xfrm>
          <a:prstGeom prst="rect">
            <a:avLst/>
          </a:prstGeom>
          <a:noFill/>
        </p:spPr>
        <p:txBody>
          <a:bodyPr wrap="none" lIns="0" rIns="0" tIns="0" bIns="0" anchor="t">
            <a:spAutoFit/>
          </a:bodyPr>
          <a:lstStyle/>
          <a:p>
            <a:pPr algn="l">
              <a:lnSpc>
                <a:spcPts val="1160"/>
              </a:lnSpc>
              <a:spcBef>
                <a:spcPts val="0"/>
              </a:spcBef>
              <a:spcAft>
                <a:spcPts val="0"/>
              </a:spcAft>
            </a:pPr>
            <a:r>
              <a:rPr sz="1000" b="0">
                <a:solidFill>
                  <a:srgbClr val="586A62"/>
                </a:solidFill>
                <a:latin typeface="Arial"/>
              </a:rPr>
              <a:t>NOT ATTEMPTED</a:t>
            </a:r>
          </a:p>
        </p:txBody>
      </p:sp>
      <p:sp>
        <p:nvSpPr>
          <p:cNvPr id="17" name="TextBox 16"/>
          <p:cNvSpPr txBox="1"/>
          <p:nvPr/>
        </p:nvSpPr>
        <p:spPr>
          <a:xfrm>
            <a:off x="482600" y="2984500"/>
            <a:ext cx="2159000" cy="4445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18372F"/>
                </a:solidFill>
                <a:latin typeface="Arial"/>
              </a:rPr>
              <a:t>BASELINE / 20</a:t>
            </a:r>
          </a:p>
        </p:txBody>
      </p:sp>
      <p:sp>
        <p:nvSpPr>
          <p:cNvPr id="18" name="Rectangle 17"/>
          <p:cNvSpPr/>
          <p:nvPr/>
        </p:nvSpPr>
        <p:spPr>
          <a:xfrm>
            <a:off x="2819400" y="2895600"/>
            <a:ext cx="6667500" cy="622300"/>
          </a:xfrm>
          <a:prstGeom prst="rect">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19400" y="3048000"/>
            <a:ext cx="6667500" cy="381000"/>
          </a:xfrm>
          <a:prstGeom prst="rect">
            <a:avLst/>
          </a:prstGeom>
          <a:noFill/>
        </p:spPr>
        <p:txBody>
          <a:bodyPr wrap="none" lIns="0" rIns="0" tIns="0" bIns="0" anchor="t">
            <a:spAutoFit/>
          </a:bodyPr>
          <a:lstStyle/>
          <a:p>
            <a:pPr algn="ctr">
              <a:lnSpc>
                <a:spcPts val="2320"/>
              </a:lnSpc>
              <a:spcBef>
                <a:spcPts val="0"/>
              </a:spcBef>
              <a:spcAft>
                <a:spcPts val="0"/>
              </a:spcAft>
            </a:pPr>
            <a:r>
              <a:rPr sz="2000" b="1">
                <a:solidFill>
                  <a:srgbClr val="FFFFFF"/>
                </a:solidFill>
                <a:latin typeface="Arial"/>
              </a:rPr>
              <a:t>15</a:t>
            </a:r>
          </a:p>
        </p:txBody>
      </p:sp>
      <p:sp>
        <p:nvSpPr>
          <p:cNvPr id="20" name="Rectangle 19"/>
          <p:cNvSpPr/>
          <p:nvPr/>
        </p:nvSpPr>
        <p:spPr>
          <a:xfrm>
            <a:off x="9486900" y="2895600"/>
            <a:ext cx="1333500" cy="622300"/>
          </a:xfrm>
          <a:prstGeom prst="rect">
            <a:avLst/>
          </a:prstGeom>
          <a:solidFill>
            <a:srgbClr val="B85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86900" y="3048000"/>
            <a:ext cx="1333500" cy="381000"/>
          </a:xfrm>
          <a:prstGeom prst="rect">
            <a:avLst/>
          </a:prstGeom>
          <a:noFill/>
        </p:spPr>
        <p:txBody>
          <a:bodyPr wrap="none" lIns="0" rIns="0" tIns="0" bIns="0" anchor="t">
            <a:spAutoFit/>
          </a:bodyPr>
          <a:lstStyle/>
          <a:p>
            <a:pPr algn="ctr">
              <a:lnSpc>
                <a:spcPts val="2320"/>
              </a:lnSpc>
              <a:spcBef>
                <a:spcPts val="0"/>
              </a:spcBef>
              <a:spcAft>
                <a:spcPts val="0"/>
              </a:spcAft>
            </a:pPr>
            <a:r>
              <a:rPr sz="2000" b="1">
                <a:solidFill>
                  <a:srgbClr val="FFFFFF"/>
                </a:solidFill>
                <a:latin typeface="Arial"/>
              </a:rPr>
              <a:t>3</a:t>
            </a:r>
          </a:p>
        </p:txBody>
      </p:sp>
      <p:sp>
        <p:nvSpPr>
          <p:cNvPr id="22" name="Rectangle 21"/>
          <p:cNvSpPr/>
          <p:nvPr/>
        </p:nvSpPr>
        <p:spPr>
          <a:xfrm>
            <a:off x="10820400" y="2895600"/>
            <a:ext cx="889000" cy="622300"/>
          </a:xfrm>
          <a:prstGeom prst="rect">
            <a:avLst/>
          </a:prstGeom>
          <a:solidFill>
            <a:srgbClr val="F0D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20400" y="3048000"/>
            <a:ext cx="889000" cy="381000"/>
          </a:xfrm>
          <a:prstGeom prst="rect">
            <a:avLst/>
          </a:prstGeom>
          <a:noFill/>
        </p:spPr>
        <p:txBody>
          <a:bodyPr wrap="none" lIns="0" rIns="0" tIns="0" bIns="0" anchor="t">
            <a:spAutoFit/>
          </a:bodyPr>
          <a:lstStyle/>
          <a:p>
            <a:pPr algn="ctr">
              <a:lnSpc>
                <a:spcPts val="2320"/>
              </a:lnSpc>
              <a:spcBef>
                <a:spcPts val="0"/>
              </a:spcBef>
              <a:spcAft>
                <a:spcPts val="0"/>
              </a:spcAft>
            </a:pPr>
            <a:r>
              <a:rPr sz="2000" b="1">
                <a:solidFill>
                  <a:srgbClr val="18372F"/>
                </a:solidFill>
                <a:latin typeface="Arial"/>
              </a:rPr>
              <a:t>2</a:t>
            </a:r>
          </a:p>
        </p:txBody>
      </p:sp>
      <p:sp>
        <p:nvSpPr>
          <p:cNvPr id="24" name="TextBox 23"/>
          <p:cNvSpPr txBox="1"/>
          <p:nvPr/>
        </p:nvSpPr>
        <p:spPr>
          <a:xfrm>
            <a:off x="482600" y="4013200"/>
            <a:ext cx="2159000" cy="444500"/>
          </a:xfrm>
          <a:prstGeom prst="rect">
            <a:avLst/>
          </a:prstGeom>
          <a:noFill/>
        </p:spPr>
        <p:txBody>
          <a:bodyPr wrap="none" lIns="0" rIns="0" tIns="0" bIns="0" anchor="t">
            <a:spAutoFit/>
          </a:bodyPr>
          <a:lstStyle/>
          <a:p>
            <a:pPr algn="l">
              <a:lnSpc>
                <a:spcPts val="1507"/>
              </a:lnSpc>
              <a:spcBef>
                <a:spcPts val="0"/>
              </a:spcBef>
              <a:spcAft>
                <a:spcPts val="0"/>
              </a:spcAft>
            </a:pPr>
            <a:r>
              <a:rPr sz="1300" b="1">
                <a:solidFill>
                  <a:srgbClr val="18372F"/>
                </a:solidFill>
                <a:latin typeface="Arial"/>
              </a:rPr>
              <a:t>FOLLOW-UP / 20</a:t>
            </a:r>
          </a:p>
        </p:txBody>
      </p:sp>
      <p:sp>
        <p:nvSpPr>
          <p:cNvPr id="25" name="Rectangle 24"/>
          <p:cNvSpPr/>
          <p:nvPr/>
        </p:nvSpPr>
        <p:spPr>
          <a:xfrm>
            <a:off x="2819400" y="3924300"/>
            <a:ext cx="444500" cy="622300"/>
          </a:xfrm>
          <a:prstGeom prst="rect">
            <a:avLst/>
          </a:prstGeom>
          <a:solidFill>
            <a:srgbClr val="335D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19400" y="4076700"/>
            <a:ext cx="444500" cy="381000"/>
          </a:xfrm>
          <a:prstGeom prst="rect">
            <a:avLst/>
          </a:prstGeom>
          <a:noFill/>
        </p:spPr>
        <p:txBody>
          <a:bodyPr wrap="none" lIns="0" rIns="0" tIns="0" bIns="0" anchor="t">
            <a:spAutoFit/>
          </a:bodyPr>
          <a:lstStyle/>
          <a:p>
            <a:pPr algn="ctr">
              <a:lnSpc>
                <a:spcPts val="2320"/>
              </a:lnSpc>
              <a:spcBef>
                <a:spcPts val="0"/>
              </a:spcBef>
              <a:spcAft>
                <a:spcPts val="0"/>
              </a:spcAft>
            </a:pPr>
            <a:r>
              <a:rPr sz="2000" b="1">
                <a:solidFill>
                  <a:srgbClr val="FFFFFF"/>
                </a:solidFill>
                <a:latin typeface="Arial"/>
              </a:rPr>
              <a:t>1</a:t>
            </a:r>
          </a:p>
        </p:txBody>
      </p:sp>
      <p:sp>
        <p:nvSpPr>
          <p:cNvPr id="27" name="Rectangle 26"/>
          <p:cNvSpPr/>
          <p:nvPr/>
        </p:nvSpPr>
        <p:spPr>
          <a:xfrm>
            <a:off x="3263900" y="3924300"/>
            <a:ext cx="889000" cy="622300"/>
          </a:xfrm>
          <a:prstGeom prst="rect">
            <a:avLst/>
          </a:prstGeom>
          <a:solidFill>
            <a:srgbClr val="B85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63900" y="4076700"/>
            <a:ext cx="889000" cy="381000"/>
          </a:xfrm>
          <a:prstGeom prst="rect">
            <a:avLst/>
          </a:prstGeom>
          <a:noFill/>
        </p:spPr>
        <p:txBody>
          <a:bodyPr wrap="none" lIns="0" rIns="0" tIns="0" bIns="0" anchor="t">
            <a:spAutoFit/>
          </a:bodyPr>
          <a:lstStyle/>
          <a:p>
            <a:pPr algn="ctr">
              <a:lnSpc>
                <a:spcPts val="2320"/>
              </a:lnSpc>
              <a:spcBef>
                <a:spcPts val="0"/>
              </a:spcBef>
              <a:spcAft>
                <a:spcPts val="0"/>
              </a:spcAft>
            </a:pPr>
            <a:r>
              <a:rPr sz="2000" b="1">
                <a:solidFill>
                  <a:srgbClr val="FFFFFF"/>
                </a:solidFill>
                <a:latin typeface="Arial"/>
              </a:rPr>
              <a:t>2</a:t>
            </a:r>
          </a:p>
        </p:txBody>
      </p:sp>
      <p:sp>
        <p:nvSpPr>
          <p:cNvPr id="29" name="Rectangle 28"/>
          <p:cNvSpPr/>
          <p:nvPr/>
        </p:nvSpPr>
        <p:spPr>
          <a:xfrm>
            <a:off x="4152900" y="3924300"/>
            <a:ext cx="7556500" cy="622300"/>
          </a:xfrm>
          <a:prstGeom prst="rect">
            <a:avLst/>
          </a:prstGeom>
          <a:solidFill>
            <a:srgbClr val="E2E4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52900" y="4076700"/>
            <a:ext cx="7556500" cy="381000"/>
          </a:xfrm>
          <a:prstGeom prst="rect">
            <a:avLst/>
          </a:prstGeom>
          <a:noFill/>
        </p:spPr>
        <p:txBody>
          <a:bodyPr wrap="none" lIns="0" rIns="0" tIns="0" bIns="0" anchor="t">
            <a:spAutoFit/>
          </a:bodyPr>
          <a:lstStyle/>
          <a:p>
            <a:pPr algn="ctr">
              <a:lnSpc>
                <a:spcPts val="2320"/>
              </a:lnSpc>
              <a:spcBef>
                <a:spcPts val="0"/>
              </a:spcBef>
              <a:spcAft>
                <a:spcPts val="0"/>
              </a:spcAft>
            </a:pPr>
            <a:r>
              <a:rPr sz="2000" b="1">
                <a:solidFill>
                  <a:srgbClr val="18372F"/>
                </a:solidFill>
                <a:latin typeface="Arial"/>
              </a:rPr>
              <a:t>17</a:t>
            </a:r>
          </a:p>
        </p:txBody>
      </p:sp>
      <p:sp>
        <p:nvSpPr>
          <p:cNvPr id="31" name="TextBox 30"/>
          <p:cNvSpPr txBox="1"/>
          <p:nvPr/>
        </p:nvSpPr>
        <p:spPr>
          <a:xfrm>
            <a:off x="2819400" y="4660900"/>
            <a:ext cx="8851900" cy="317500"/>
          </a:xfrm>
          <a:prstGeom prst="rect">
            <a:avLst/>
          </a:prstGeom>
          <a:noFill/>
        </p:spPr>
        <p:txBody>
          <a:bodyPr wrap="none" lIns="0" rIns="0" tIns="0" bIns="0" anchor="t">
            <a:spAutoFit/>
          </a:bodyPr>
          <a:lstStyle/>
          <a:p>
            <a:pPr algn="l">
              <a:lnSpc>
                <a:spcPts val="1276"/>
              </a:lnSpc>
              <a:spcBef>
                <a:spcPts val="0"/>
              </a:spcBef>
              <a:spcAft>
                <a:spcPts val="0"/>
              </a:spcAft>
            </a:pPr>
            <a:r>
              <a:rPr sz="1100" b="0">
                <a:solidFill>
                  <a:srgbClr val="586A62"/>
                </a:solidFill>
                <a:latin typeface="Arial"/>
              </a:rPr>
              <a:t>*Baseline: 3 contract failures. Follow-up: 2 provider HTTP503 errors.</a:t>
            </a:r>
          </a:p>
        </p:txBody>
      </p:sp>
      <p:sp>
        <p:nvSpPr>
          <p:cNvPr id="32" name="Rounded Rectangle 31"/>
          <p:cNvSpPr/>
          <p:nvPr/>
        </p:nvSpPr>
        <p:spPr>
          <a:xfrm>
            <a:off x="482600" y="5130800"/>
            <a:ext cx="11226800" cy="990600"/>
          </a:xfrm>
          <a:prstGeom prst="roundRect">
            <a:avLst>
              <a:gd name="adj" fmla="val 8000"/>
            </a:avLst>
          </a:prstGeom>
          <a:solidFill>
            <a:srgbClr val="F0D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283200"/>
            <a:ext cx="10795000" cy="393700"/>
          </a:xfrm>
          <a:prstGeom prst="rect">
            <a:avLst/>
          </a:prstGeom>
          <a:noFill/>
        </p:spPr>
        <p:txBody>
          <a:bodyPr wrap="none" lIns="0" rIns="0" tIns="0" bIns="0" anchor="t">
            <a:spAutoFit/>
          </a:bodyPr>
          <a:lstStyle/>
          <a:p>
            <a:pPr algn="l">
              <a:lnSpc>
                <a:spcPts val="2204"/>
              </a:lnSpc>
              <a:spcBef>
                <a:spcPts val="0"/>
              </a:spcBef>
              <a:spcAft>
                <a:spcPts val="0"/>
              </a:spcAft>
            </a:pPr>
            <a:r>
              <a:rPr sz="1900" b="1">
                <a:solidFill>
                  <a:srgbClr val="18372F"/>
                </a:solidFill>
                <a:latin typeface="Arial"/>
              </a:rPr>
              <a:t>A complete before/after quality claim is not yet supported.</a:t>
            </a:r>
          </a:p>
        </p:txBody>
      </p:sp>
      <p:sp>
        <p:nvSpPr>
          <p:cNvPr id="34" name="TextBox 33"/>
          <p:cNvSpPr txBox="1"/>
          <p:nvPr/>
        </p:nvSpPr>
        <p:spPr>
          <a:xfrm>
            <a:off x="685800" y="5727700"/>
            <a:ext cx="10795000" cy="330200"/>
          </a:xfrm>
          <a:prstGeom prst="rect">
            <a:avLst/>
          </a:prstGeom>
          <a:noFill/>
        </p:spPr>
        <p:txBody>
          <a:bodyPr wrap="none" lIns="0" rIns="0" tIns="0" bIns="0" anchor="t">
            <a:spAutoFit/>
          </a:bodyPr>
          <a:lstStyle/>
          <a:p>
            <a:pPr algn="l">
              <a:lnSpc>
                <a:spcPts val="1391"/>
              </a:lnSpc>
              <a:spcBef>
                <a:spcPts val="0"/>
              </a:spcBef>
              <a:spcAft>
                <a:spcPts val="0"/>
              </a:spcAft>
            </a:pPr>
            <a:r>
              <a:rPr sz="1200" b="0">
                <a:solidFill>
                  <a:srgbClr val="586A62"/>
                </a:solidFill>
                <a:latin typeface="Arial"/>
              </a:rPr>
              <a:t>AI-assisted review. Injection: INCONCLUSIVE. Semantic-content 18/20 is a separate measure.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MEASUREMENT / KNOWN VERSUS UNKNOWN</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11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596"/>
              </a:lnSpc>
              <a:spcBef>
                <a:spcPts val="0"/>
              </a:spcBef>
              <a:spcAft>
                <a:spcPts val="0"/>
              </a:spcAft>
            </a:pPr>
            <a:r>
              <a:rPr sz="3100" b="0">
                <a:solidFill>
                  <a:srgbClr val="18372F"/>
                </a:solidFill>
                <a:latin typeface="Georgia"/>
              </a:rPr>
              <a:t>Cost and latency: known values, stated limits</a:t>
            </a:r>
          </a:p>
        </p:txBody>
      </p:sp>
      <p:sp>
        <p:nvSpPr>
          <p:cNvPr id="8" name="Rounded Rectangle 7"/>
          <p:cNvSpPr/>
          <p:nvPr/>
        </p:nvSpPr>
        <p:spPr>
          <a:xfrm>
            <a:off x="482600" y="1981200"/>
            <a:ext cx="3606800" cy="25146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200" y="2273300"/>
            <a:ext cx="3175000" cy="762000"/>
          </a:xfrm>
          <a:prstGeom prst="rect">
            <a:avLst/>
          </a:prstGeom>
          <a:noFill/>
        </p:spPr>
        <p:txBody>
          <a:bodyPr wrap="none" lIns="0" rIns="0" tIns="0" bIns="0" anchor="t">
            <a:spAutoFit/>
          </a:bodyPr>
          <a:lstStyle/>
          <a:p>
            <a:pPr algn="l">
              <a:lnSpc>
                <a:spcPts val="3944"/>
              </a:lnSpc>
              <a:spcBef>
                <a:spcPts val="0"/>
              </a:spcBef>
              <a:spcAft>
                <a:spcPts val="0"/>
              </a:spcAft>
            </a:pPr>
            <a:r>
              <a:rPr sz="3400" b="0">
                <a:solidFill>
                  <a:srgbClr val="335D49"/>
                </a:solidFill>
                <a:latin typeface="Georgia"/>
              </a:rPr>
              <a:t>4.58 s</a:t>
            </a:r>
          </a:p>
        </p:txBody>
      </p:sp>
      <p:sp>
        <p:nvSpPr>
          <p:cNvPr id="10" name="TextBox 9"/>
          <p:cNvSpPr txBox="1"/>
          <p:nvPr/>
        </p:nvSpPr>
        <p:spPr>
          <a:xfrm>
            <a:off x="711200" y="3225800"/>
            <a:ext cx="3175000" cy="2667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B85B34"/>
                </a:solidFill>
                <a:latin typeface="Arial"/>
              </a:rPr>
              <a:t>MEAN OPERATION</a:t>
            </a:r>
          </a:p>
        </p:txBody>
      </p:sp>
      <p:sp>
        <p:nvSpPr>
          <p:cNvPr id="11" name="TextBox 10"/>
          <p:cNvSpPr txBox="1"/>
          <p:nvPr/>
        </p:nvSpPr>
        <p:spPr>
          <a:xfrm>
            <a:off x="711200" y="3733800"/>
            <a:ext cx="3175000" cy="635000"/>
          </a:xfrm>
          <a:prstGeom prst="rect">
            <a:avLst/>
          </a:prstGeom>
          <a:noFill/>
        </p:spPr>
        <p:txBody>
          <a:bodyPr wrap="none" lIns="0" rIns="0" tIns="0" bIns="0" anchor="t">
            <a:spAutoFit/>
          </a:bodyPr>
          <a:lstStyle/>
          <a:p>
            <a:pPr algn="l">
              <a:lnSpc>
                <a:spcPts val="1739"/>
              </a:lnSpc>
              <a:spcBef>
                <a:spcPts val="0"/>
              </a:spcBef>
              <a:spcAft>
                <a:spcPts val="0"/>
              </a:spcAft>
            </a:pPr>
            <a:r>
              <a:rPr sz="1500" b="0">
                <a:solidFill>
                  <a:srgbClr val="586A62"/>
                </a:solidFill>
                <a:latin typeface="Arial"/>
              </a:rPr>
              <a:t>20 baseline operations</a:t>
            </a:r>
          </a:p>
        </p:txBody>
      </p:sp>
      <p:sp>
        <p:nvSpPr>
          <p:cNvPr id="12" name="Rounded Rectangle 11"/>
          <p:cNvSpPr/>
          <p:nvPr/>
        </p:nvSpPr>
        <p:spPr>
          <a:xfrm>
            <a:off x="4292600" y="1981200"/>
            <a:ext cx="3606800" cy="25146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200" y="2273300"/>
            <a:ext cx="3175000" cy="762000"/>
          </a:xfrm>
          <a:prstGeom prst="rect">
            <a:avLst/>
          </a:prstGeom>
          <a:noFill/>
        </p:spPr>
        <p:txBody>
          <a:bodyPr wrap="none" lIns="0" rIns="0" tIns="0" bIns="0" anchor="t">
            <a:spAutoFit/>
          </a:bodyPr>
          <a:lstStyle/>
          <a:p>
            <a:pPr algn="l">
              <a:lnSpc>
                <a:spcPts val="3944"/>
              </a:lnSpc>
              <a:spcBef>
                <a:spcPts val="0"/>
              </a:spcBef>
              <a:spcAft>
                <a:spcPts val="0"/>
              </a:spcAft>
            </a:pPr>
            <a:r>
              <a:rPr sz="3400" b="0">
                <a:solidFill>
                  <a:srgbClr val="335D49"/>
                </a:solidFill>
                <a:latin typeface="Georgia"/>
              </a:rPr>
              <a:t>5.06 s</a:t>
            </a:r>
          </a:p>
        </p:txBody>
      </p:sp>
      <p:sp>
        <p:nvSpPr>
          <p:cNvPr id="14" name="TextBox 13"/>
          <p:cNvSpPr txBox="1"/>
          <p:nvPr/>
        </p:nvSpPr>
        <p:spPr>
          <a:xfrm>
            <a:off x="4521200" y="3225800"/>
            <a:ext cx="3175000" cy="2667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B85B34"/>
                </a:solidFill>
                <a:latin typeface="Arial"/>
              </a:rPr>
              <a:t>SAMPLE p95</a:t>
            </a:r>
          </a:p>
        </p:txBody>
      </p:sp>
      <p:sp>
        <p:nvSpPr>
          <p:cNvPr id="15" name="TextBox 14"/>
          <p:cNvSpPr txBox="1"/>
          <p:nvPr/>
        </p:nvSpPr>
        <p:spPr>
          <a:xfrm>
            <a:off x="4521200" y="3733800"/>
            <a:ext cx="3175000" cy="635000"/>
          </a:xfrm>
          <a:prstGeom prst="rect">
            <a:avLst/>
          </a:prstGeom>
          <a:noFill/>
        </p:spPr>
        <p:txBody>
          <a:bodyPr wrap="none" lIns="0" rIns="0" tIns="0" bIns="0" anchor="t">
            <a:spAutoFit/>
          </a:bodyPr>
          <a:lstStyle/>
          <a:p>
            <a:pPr algn="l">
              <a:lnSpc>
                <a:spcPts val="1739"/>
              </a:lnSpc>
              <a:spcBef>
                <a:spcPts val="0"/>
              </a:spcBef>
              <a:spcAft>
                <a:spcPts val="0"/>
              </a:spcAft>
            </a:pPr>
            <a:r>
              <a:rPr sz="1500" b="0">
                <a:solidFill>
                  <a:srgbClr val="586A62"/>
                </a:solidFill>
                <a:latin typeface="Arial"/>
              </a:rPr>
              <a:t>Same 20; not a production SLA</a:t>
            </a:r>
          </a:p>
        </p:txBody>
      </p:sp>
      <p:sp>
        <p:nvSpPr>
          <p:cNvPr id="16" name="Rounded Rectangle 15"/>
          <p:cNvSpPr/>
          <p:nvPr/>
        </p:nvSpPr>
        <p:spPr>
          <a:xfrm>
            <a:off x="8102600" y="1981200"/>
            <a:ext cx="3606800" cy="25146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1200" y="2273300"/>
            <a:ext cx="3175000" cy="762000"/>
          </a:xfrm>
          <a:prstGeom prst="rect">
            <a:avLst/>
          </a:prstGeom>
          <a:noFill/>
        </p:spPr>
        <p:txBody>
          <a:bodyPr wrap="none" lIns="0" rIns="0" tIns="0" bIns="0" anchor="t">
            <a:spAutoFit/>
          </a:bodyPr>
          <a:lstStyle/>
          <a:p>
            <a:pPr algn="l">
              <a:lnSpc>
                <a:spcPts val="3247"/>
              </a:lnSpc>
              <a:spcBef>
                <a:spcPts val="0"/>
              </a:spcBef>
              <a:spcAft>
                <a:spcPts val="0"/>
              </a:spcAft>
            </a:pPr>
            <a:r>
              <a:rPr sz="2800" b="0">
                <a:solidFill>
                  <a:srgbClr val="335D49"/>
                </a:solidFill>
                <a:latin typeface="Georgia"/>
              </a:rPr>
              <a:t>$0.0128272</a:t>
            </a:r>
          </a:p>
        </p:txBody>
      </p:sp>
      <p:sp>
        <p:nvSpPr>
          <p:cNvPr id="18" name="TextBox 17"/>
          <p:cNvSpPr txBox="1"/>
          <p:nvPr/>
        </p:nvSpPr>
        <p:spPr>
          <a:xfrm>
            <a:off x="8331200" y="3225800"/>
            <a:ext cx="3175000" cy="2667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B85B34"/>
                </a:solidFill>
                <a:latin typeface="Arial"/>
              </a:rPr>
              <a:t>KNOWN GENERATION ESTIMATE</a:t>
            </a:r>
          </a:p>
        </p:txBody>
      </p:sp>
      <p:sp>
        <p:nvSpPr>
          <p:cNvPr id="19" name="TextBox 18"/>
          <p:cNvSpPr txBox="1"/>
          <p:nvPr/>
        </p:nvSpPr>
        <p:spPr>
          <a:xfrm>
            <a:off x="8331200" y="3733800"/>
            <a:ext cx="3175000" cy="635000"/>
          </a:xfrm>
          <a:prstGeom prst="rect">
            <a:avLst/>
          </a:prstGeom>
          <a:noFill/>
        </p:spPr>
        <p:txBody>
          <a:bodyPr wrap="none" lIns="0" rIns="0" tIns="0" bIns="0" anchor="t">
            <a:spAutoFit/>
          </a:bodyPr>
          <a:lstStyle/>
          <a:p>
            <a:pPr algn="l">
              <a:lnSpc>
                <a:spcPts val="1739"/>
              </a:lnSpc>
              <a:spcBef>
                <a:spcPts val="0"/>
              </a:spcBef>
              <a:spcAft>
                <a:spcPts val="0"/>
              </a:spcAft>
            </a:pPr>
            <a:r>
              <a:rPr sz="1500" b="0">
                <a:solidFill>
                  <a:srgbClr val="586A62"/>
                </a:solidFill>
                <a:latin typeface="Arial"/>
              </a:rPr>
              <a:t>20 generations with usage</a:t>
            </a:r>
          </a:p>
        </p:txBody>
      </p:sp>
      <p:sp>
        <p:nvSpPr>
          <p:cNvPr id="20" name="TextBox 19"/>
          <p:cNvSpPr txBox="1"/>
          <p:nvPr/>
        </p:nvSpPr>
        <p:spPr>
          <a:xfrm>
            <a:off x="482600" y="4787900"/>
            <a:ext cx="11226800" cy="660400"/>
          </a:xfrm>
          <a:prstGeom prst="rect">
            <a:avLst/>
          </a:prstGeom>
          <a:noFill/>
        </p:spPr>
        <p:txBody>
          <a:bodyPr wrap="none" lIns="0" rIns="0" tIns="0" bIns="0" anchor="t">
            <a:spAutoFit/>
          </a:bodyPr>
          <a:lstStyle/>
          <a:p>
            <a:pPr algn="l">
              <a:lnSpc>
                <a:spcPts val="1972"/>
              </a:lnSpc>
              <a:spcBef>
                <a:spcPts val="0"/>
              </a:spcBef>
              <a:spcAft>
                <a:spcPts val="0"/>
              </a:spcAft>
            </a:pPr>
            <a:r>
              <a:rPr sz="1700" b="0">
                <a:solidFill>
                  <a:srgbClr val="18372F"/>
                </a:solidFill>
                <a:latin typeface="Arial"/>
              </a:rPr>
              <a:t>20 of 40 baseline calls had missing usage. Unknown is not zero.</a:t>
            </a:r>
            <a:br/>
            <a:r>
              <a:rPr sz="1700" b="0">
                <a:solidFill>
                  <a:srgbClr val="18372F"/>
                </a:solidFill>
                <a:latin typeface="Arial"/>
              </a:rPr>
              <a:t>Campaign upper used/reserved: USD 0.618895 across 51 calls, including a separate probe.</a:t>
            </a:r>
          </a:p>
        </p:txBody>
      </p:sp>
      <p:sp>
        <p:nvSpPr>
          <p:cNvPr id="21" name="TextBox 20"/>
          <p:cNvSpPr txBox="1"/>
          <p:nvPr/>
        </p:nvSpPr>
        <p:spPr>
          <a:xfrm>
            <a:off x="482600" y="5702300"/>
            <a:ext cx="11226800" cy="406400"/>
          </a:xfrm>
          <a:prstGeom prst="rect">
            <a:avLst/>
          </a:prstGeom>
          <a:noFill/>
        </p:spPr>
        <p:txBody>
          <a:bodyPr wrap="none" lIns="0" rIns="0" tIns="0" bIns="0" anchor="t">
            <a:spAutoFit/>
          </a:bodyPr>
          <a:lstStyle/>
          <a:p>
            <a:pPr algn="l">
              <a:lnSpc>
                <a:spcPts val="1739"/>
              </a:lnSpc>
              <a:spcBef>
                <a:spcPts val="0"/>
              </a:spcBef>
              <a:spcAft>
                <a:spcPts val="0"/>
              </a:spcAft>
            </a:pPr>
            <a:r>
              <a:rPr sz="1500" b="1">
                <a:solidFill>
                  <a:srgbClr val="335D49"/>
                </a:solidFill>
                <a:latin typeface="Arial"/>
              </a:rPr>
              <a:t>Telemetry is best-effort. Estimates are not invoices or a provider hard spending cap.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OWNERSHIP / TAKEAWAYS</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 + THẮNG</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12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711"/>
              </a:lnSpc>
              <a:spcBef>
                <a:spcPts val="0"/>
              </a:spcBef>
              <a:spcAft>
                <a:spcPts val="0"/>
              </a:spcAft>
            </a:pPr>
            <a:r>
              <a:rPr sz="3200" b="0">
                <a:solidFill>
                  <a:srgbClr val="18372F"/>
                </a:solidFill>
                <a:latin typeface="Georgia"/>
              </a:rPr>
              <a:t>Two contributors, one integrated product</a:t>
            </a:r>
          </a:p>
        </p:txBody>
      </p:sp>
      <p:sp>
        <p:nvSpPr>
          <p:cNvPr id="8" name="Rounded Rectangle 7"/>
          <p:cNvSpPr/>
          <p:nvPr/>
        </p:nvSpPr>
        <p:spPr>
          <a:xfrm>
            <a:off x="482600" y="1892300"/>
            <a:ext cx="5499100" cy="22987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600" y="2146300"/>
            <a:ext cx="4953000" cy="558800"/>
          </a:xfrm>
          <a:prstGeom prst="rect">
            <a:avLst/>
          </a:prstGeom>
          <a:noFill/>
        </p:spPr>
        <p:txBody>
          <a:bodyPr wrap="none" lIns="0" rIns="0" tIns="0" bIns="0" anchor="t">
            <a:spAutoFit/>
          </a:bodyPr>
          <a:lstStyle/>
          <a:p>
            <a:pPr algn="l">
              <a:lnSpc>
                <a:spcPts val="3364"/>
              </a:lnSpc>
              <a:spcBef>
                <a:spcPts val="0"/>
              </a:spcBef>
              <a:spcAft>
                <a:spcPts val="0"/>
              </a:spcAft>
            </a:pPr>
            <a:r>
              <a:rPr sz="2900" b="0">
                <a:solidFill>
                  <a:srgbClr val="335D49"/>
                </a:solidFill>
                <a:latin typeface="Georgia"/>
              </a:rPr>
              <a:t>Tài</a:t>
            </a:r>
          </a:p>
        </p:txBody>
      </p:sp>
      <p:sp>
        <p:nvSpPr>
          <p:cNvPr id="10" name="TextBox 9"/>
          <p:cNvSpPr txBox="1"/>
          <p:nvPr/>
        </p:nvSpPr>
        <p:spPr>
          <a:xfrm>
            <a:off x="736600" y="2844800"/>
            <a:ext cx="4965700" cy="1193800"/>
          </a:xfrm>
          <a:prstGeom prst="rect">
            <a:avLst/>
          </a:prstGeom>
          <a:noFill/>
        </p:spPr>
        <p:txBody>
          <a:bodyPr wrap="none" lIns="0" rIns="0" tIns="0" bIns="0" anchor="t">
            <a:spAutoFit/>
          </a:bodyPr>
          <a:lstStyle/>
          <a:p>
            <a:pPr algn="l">
              <a:lnSpc>
                <a:spcPts val="2204"/>
              </a:lnSpc>
              <a:spcBef>
                <a:spcPts val="0"/>
              </a:spcBef>
              <a:spcAft>
                <a:spcPts val="0"/>
              </a:spcAft>
            </a:pPr>
            <a:r>
              <a:rPr sz="1900" b="0">
                <a:solidFill>
                  <a:srgbClr val="18372F"/>
                </a:solidFill>
                <a:latin typeface="Arial"/>
              </a:rPr>
              <a:t>Final integration, frontend/business screens,</a:t>
            </a:r>
            <a:br/>
            <a:r>
              <a:rPr sz="1900" b="0">
                <a:solidFill>
                  <a:srgbClr val="18372F"/>
                </a:solidFill>
                <a:latin typeface="Arial"/>
              </a:rPr>
              <a:t>Auth/RLS, RAG, Study Coach, AI controls</a:t>
            </a:r>
            <a:br/>
            <a:r>
              <a:rPr sz="1900" b="0">
                <a:solidFill>
                  <a:srgbClr val="18372F"/>
                </a:solidFill>
                <a:latin typeface="Arial"/>
              </a:rPr>
              <a:t>and evaluation.</a:t>
            </a:r>
          </a:p>
        </p:txBody>
      </p:sp>
      <p:sp>
        <p:nvSpPr>
          <p:cNvPr id="11" name="Rounded Rectangle 10"/>
          <p:cNvSpPr/>
          <p:nvPr/>
        </p:nvSpPr>
        <p:spPr>
          <a:xfrm>
            <a:off x="6210300" y="1892300"/>
            <a:ext cx="5499100" cy="22987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300" y="2146300"/>
            <a:ext cx="4953000" cy="558800"/>
          </a:xfrm>
          <a:prstGeom prst="rect">
            <a:avLst/>
          </a:prstGeom>
          <a:noFill/>
        </p:spPr>
        <p:txBody>
          <a:bodyPr wrap="none" lIns="0" rIns="0" tIns="0" bIns="0" anchor="t">
            <a:spAutoFit/>
          </a:bodyPr>
          <a:lstStyle/>
          <a:p>
            <a:pPr algn="l">
              <a:lnSpc>
                <a:spcPts val="3364"/>
              </a:lnSpc>
              <a:spcBef>
                <a:spcPts val="0"/>
              </a:spcBef>
              <a:spcAft>
                <a:spcPts val="0"/>
              </a:spcAft>
            </a:pPr>
            <a:r>
              <a:rPr sz="2900" b="0">
                <a:solidFill>
                  <a:srgbClr val="335D49"/>
                </a:solidFill>
                <a:latin typeface="Georgia"/>
              </a:rPr>
              <a:t>Thắng</a:t>
            </a:r>
          </a:p>
        </p:txBody>
      </p:sp>
      <p:sp>
        <p:nvSpPr>
          <p:cNvPr id="13" name="TextBox 12"/>
          <p:cNvSpPr txBox="1"/>
          <p:nvPr/>
        </p:nvSpPr>
        <p:spPr>
          <a:xfrm>
            <a:off x="6464300" y="2844800"/>
            <a:ext cx="4965700" cy="1193800"/>
          </a:xfrm>
          <a:prstGeom prst="rect">
            <a:avLst/>
          </a:prstGeom>
          <a:noFill/>
        </p:spPr>
        <p:txBody>
          <a:bodyPr wrap="none" lIns="0" rIns="0" tIns="0" bIns="0" anchor="t">
            <a:spAutoFit/>
          </a:bodyPr>
          <a:lstStyle/>
          <a:p>
            <a:pPr algn="l">
              <a:lnSpc>
                <a:spcPts val="2204"/>
              </a:lnSpc>
              <a:spcBef>
                <a:spcPts val="0"/>
              </a:spcBef>
              <a:spcAft>
                <a:spcPts val="0"/>
              </a:spcAft>
            </a:pPr>
            <a:r>
              <a:rPr sz="1900" b="0">
                <a:solidFill>
                  <a:srgbClr val="18372F"/>
                </a:solidFill>
                <a:latin typeface="Arial"/>
              </a:rPr>
              <a:t>Early backend/Supabase, initial Gemini</a:t>
            </a:r>
            <a:br/>
            <a:r>
              <a:rPr sz="1900" b="0">
                <a:solidFill>
                  <a:srgbClr val="18372F"/>
                </a:solidFill>
                <a:latin typeface="Arial"/>
              </a:rPr>
              <a:t>integration, local STT and SSE.</a:t>
            </a:r>
          </a:p>
        </p:txBody>
      </p:sp>
      <p:sp>
        <p:nvSpPr>
          <p:cNvPr id="14" name="TextBox 13"/>
          <p:cNvSpPr txBox="1"/>
          <p:nvPr/>
        </p:nvSpPr>
        <p:spPr>
          <a:xfrm>
            <a:off x="482600" y="4470400"/>
            <a:ext cx="11176000" cy="6477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Open: complete follow-up evaluation; broader semantic/device checks; personal confirmations.</a:t>
            </a:r>
          </a:p>
        </p:txBody>
      </p:sp>
      <p:sp>
        <p:nvSpPr>
          <p:cNvPr id="15" name="TextBox 14"/>
          <p:cNvSpPr txBox="1"/>
          <p:nvPr/>
        </p:nvSpPr>
        <p:spPr>
          <a:xfrm>
            <a:off x="482600" y="5372100"/>
            <a:ext cx="11176000" cy="647700"/>
          </a:xfrm>
          <a:prstGeom prst="rect">
            <a:avLst/>
          </a:prstGeom>
          <a:noFill/>
        </p:spPr>
        <p:txBody>
          <a:bodyPr wrap="none" lIns="0" rIns="0" tIns="0" bIns="0" anchor="t">
            <a:spAutoFit/>
          </a:bodyPr>
          <a:lstStyle/>
          <a:p>
            <a:pPr algn="l">
              <a:lnSpc>
                <a:spcPts val="3247"/>
              </a:lnSpc>
              <a:spcBef>
                <a:spcPts val="0"/>
              </a:spcBef>
              <a:spcAft>
                <a:spcPts val="0"/>
              </a:spcAft>
            </a:pPr>
            <a:r>
              <a:rPr sz="2800" b="0">
                <a:solidFill>
                  <a:srgbClr val="335D49"/>
                </a:solidFill>
                <a:latin typeface="Georgia"/>
              </a:rPr>
              <a:t>Thank you. Let’s trace a request together.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Q&amp;A BACKUP / FRONTEND</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13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711"/>
              </a:lnSpc>
              <a:spcBef>
                <a:spcPts val="0"/>
              </a:spcBef>
              <a:spcAft>
                <a:spcPts val="0"/>
              </a:spcAft>
            </a:pPr>
            <a:r>
              <a:rPr sz="3200" b="0">
                <a:solidFill>
                  <a:srgbClr val="18372F"/>
                </a:solidFill>
                <a:latin typeface="Georgia"/>
              </a:rPr>
              <a:t>Backup: frontend request lifecycle</a:t>
            </a:r>
          </a:p>
        </p:txBody>
      </p:sp>
      <p:sp>
        <p:nvSpPr>
          <p:cNvPr id="8" name="Rounded Rectangle 7"/>
          <p:cNvSpPr/>
          <p:nvPr/>
        </p:nvSpPr>
        <p:spPr>
          <a:xfrm>
            <a:off x="482600" y="1968500"/>
            <a:ext cx="2692400" cy="27051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2197100"/>
            <a:ext cx="2324100" cy="368300"/>
          </a:xfrm>
          <a:prstGeom prst="rect">
            <a:avLst/>
          </a:prstGeom>
          <a:noFill/>
        </p:spPr>
        <p:txBody>
          <a:bodyPr wrap="none" lIns="0" rIns="0" tIns="0" bIns="0" anchor="t">
            <a:spAutoFit/>
          </a:bodyPr>
          <a:lstStyle/>
          <a:p>
            <a:pPr algn="l">
              <a:lnSpc>
                <a:spcPts val="2088"/>
              </a:lnSpc>
              <a:spcBef>
                <a:spcPts val="0"/>
              </a:spcBef>
              <a:spcAft>
                <a:spcPts val="0"/>
              </a:spcAft>
            </a:pPr>
            <a:r>
              <a:rPr sz="1800" b="1">
                <a:solidFill>
                  <a:srgbClr val="B85B34"/>
                </a:solidFill>
                <a:latin typeface="Arial"/>
              </a:rPr>
              <a:t>UI</a:t>
            </a:r>
          </a:p>
        </p:txBody>
      </p:sp>
      <p:sp>
        <p:nvSpPr>
          <p:cNvPr id="10" name="TextBox 9"/>
          <p:cNvSpPr txBox="1"/>
          <p:nvPr/>
        </p:nvSpPr>
        <p:spPr>
          <a:xfrm>
            <a:off x="660400" y="2794000"/>
            <a:ext cx="2324100" cy="17399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Components render</a:t>
            </a:r>
            <a:br/>
            <a:r>
              <a:rPr sz="1800" b="0">
                <a:solidFill>
                  <a:srgbClr val="18372F"/>
                </a:solidFill>
                <a:latin typeface="Arial"/>
              </a:rPr>
              <a:t>views; hooks own</a:t>
            </a:r>
            <a:br/>
            <a:r>
              <a:rPr sz="1800" b="0">
                <a:solidFill>
                  <a:srgbClr val="18372F"/>
                </a:solidFill>
                <a:latin typeface="Arial"/>
              </a:rPr>
              <a:t>state/effects; api.ts</a:t>
            </a:r>
            <a:br/>
            <a:r>
              <a:rPr sz="1800" b="0">
                <a:solidFill>
                  <a:srgbClr val="18372F"/>
                </a:solidFill>
                <a:latin typeface="Arial"/>
              </a:rPr>
              <a:t>centralizes requests.</a:t>
            </a:r>
          </a:p>
        </p:txBody>
      </p:sp>
      <p:sp>
        <p:nvSpPr>
          <p:cNvPr id="11" name="Rounded Rectangle 10"/>
          <p:cNvSpPr/>
          <p:nvPr/>
        </p:nvSpPr>
        <p:spPr>
          <a:xfrm>
            <a:off x="3327400" y="1968500"/>
            <a:ext cx="2692400" cy="27051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5200" y="2197100"/>
            <a:ext cx="2324100" cy="368300"/>
          </a:xfrm>
          <a:prstGeom prst="rect">
            <a:avLst/>
          </a:prstGeom>
          <a:noFill/>
        </p:spPr>
        <p:txBody>
          <a:bodyPr wrap="none" lIns="0" rIns="0" tIns="0" bIns="0" anchor="t">
            <a:spAutoFit/>
          </a:bodyPr>
          <a:lstStyle/>
          <a:p>
            <a:pPr algn="l">
              <a:lnSpc>
                <a:spcPts val="2088"/>
              </a:lnSpc>
              <a:spcBef>
                <a:spcPts val="0"/>
              </a:spcBef>
              <a:spcAft>
                <a:spcPts val="0"/>
              </a:spcAft>
            </a:pPr>
            <a:r>
              <a:rPr sz="1800" b="1">
                <a:solidFill>
                  <a:srgbClr val="B85B34"/>
                </a:solidFill>
                <a:latin typeface="Arial"/>
              </a:rPr>
              <a:t>Identity</a:t>
            </a:r>
          </a:p>
        </p:txBody>
      </p:sp>
      <p:sp>
        <p:nvSpPr>
          <p:cNvPr id="13" name="TextBox 12"/>
          <p:cNvSpPr txBox="1"/>
          <p:nvPr/>
        </p:nvSpPr>
        <p:spPr>
          <a:xfrm>
            <a:off x="3505200" y="2794000"/>
            <a:ext cx="2324100" cy="17399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Principal/context</a:t>
            </a:r>
            <a:br/>
            <a:r>
              <a:rPr sz="1800" b="0">
                <a:solidFill>
                  <a:srgbClr val="18372F"/>
                </a:solidFill>
                <a:latin typeface="Arial"/>
              </a:rPr>
              <a:t>query keys prevent</a:t>
            </a:r>
            <a:br/>
            <a:r>
              <a:rPr sz="1800" b="0">
                <a:solidFill>
                  <a:srgbClr val="18372F"/>
                </a:solidFill>
                <a:latin typeface="Arial"/>
              </a:rPr>
              <a:t>old private data</a:t>
            </a:r>
            <a:br/>
            <a:r>
              <a:rPr sz="1800" b="0">
                <a:solidFill>
                  <a:srgbClr val="18372F"/>
                </a:solidFill>
                <a:latin typeface="Arial"/>
              </a:rPr>
              <a:t>flashing back.</a:t>
            </a:r>
          </a:p>
        </p:txBody>
      </p:sp>
      <p:sp>
        <p:nvSpPr>
          <p:cNvPr id="14" name="Rounded Rectangle 13"/>
          <p:cNvSpPr/>
          <p:nvPr/>
        </p:nvSpPr>
        <p:spPr>
          <a:xfrm>
            <a:off x="6172200" y="1968500"/>
            <a:ext cx="2692400" cy="27051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0" y="2197100"/>
            <a:ext cx="2324100" cy="368300"/>
          </a:xfrm>
          <a:prstGeom prst="rect">
            <a:avLst/>
          </a:prstGeom>
          <a:noFill/>
        </p:spPr>
        <p:txBody>
          <a:bodyPr wrap="none" lIns="0" rIns="0" tIns="0" bIns="0" anchor="t">
            <a:spAutoFit/>
          </a:bodyPr>
          <a:lstStyle/>
          <a:p>
            <a:pPr algn="l">
              <a:lnSpc>
                <a:spcPts val="2088"/>
              </a:lnSpc>
              <a:spcBef>
                <a:spcPts val="0"/>
              </a:spcBef>
              <a:spcAft>
                <a:spcPts val="0"/>
              </a:spcAft>
            </a:pPr>
            <a:r>
              <a:rPr sz="1800" b="1">
                <a:solidFill>
                  <a:srgbClr val="B85B34"/>
                </a:solidFill>
                <a:latin typeface="Arial"/>
              </a:rPr>
              <a:t>Request</a:t>
            </a:r>
          </a:p>
        </p:txBody>
      </p:sp>
      <p:sp>
        <p:nvSpPr>
          <p:cNvPr id="16" name="TextBox 15"/>
          <p:cNvSpPr txBox="1"/>
          <p:nvPr/>
        </p:nvSpPr>
        <p:spPr>
          <a:xfrm>
            <a:off x="6350000" y="2794000"/>
            <a:ext cx="2324100" cy="17399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Debounce →</a:t>
            </a:r>
            <a:br/>
            <a:r>
              <a:rPr sz="1800" b="0">
                <a:solidFill>
                  <a:srgbClr val="18372F"/>
                </a:solidFill>
                <a:latin typeface="Arial"/>
              </a:rPr>
              <a:t>bounded GET →</a:t>
            </a:r>
            <a:br/>
            <a:r>
              <a:rPr sz="1800" b="0">
                <a:solidFill>
                  <a:srgbClr val="18372F"/>
                </a:solidFill>
                <a:latin typeface="Arial"/>
              </a:rPr>
              <a:t>server page/count and</a:t>
            </a:r>
            <a:br/>
            <a:r>
              <a:rPr sz="1800" b="0">
                <a:solidFill>
                  <a:srgbClr val="18372F"/>
                </a:solidFill>
                <a:latin typeface="Arial"/>
              </a:rPr>
              <a:t>scoped lookup.</a:t>
            </a:r>
          </a:p>
        </p:txBody>
      </p:sp>
      <p:sp>
        <p:nvSpPr>
          <p:cNvPr id="17" name="Rounded Rectangle 16"/>
          <p:cNvSpPr/>
          <p:nvPr/>
        </p:nvSpPr>
        <p:spPr>
          <a:xfrm>
            <a:off x="9017000" y="1968500"/>
            <a:ext cx="2692400" cy="2705100"/>
          </a:xfrm>
          <a:prstGeom prst="roundRect">
            <a:avLst>
              <a:gd name="adj" fmla="val 8000"/>
            </a:avLst>
          </a:prstGeom>
          <a:solidFill>
            <a:srgbClr val="FFFFFF"/>
          </a:solidFill>
          <a:ln w="10160">
            <a:solidFill>
              <a:srgbClr val="D7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4800" y="2197100"/>
            <a:ext cx="2324100" cy="368300"/>
          </a:xfrm>
          <a:prstGeom prst="rect">
            <a:avLst/>
          </a:prstGeom>
          <a:noFill/>
        </p:spPr>
        <p:txBody>
          <a:bodyPr wrap="none" lIns="0" rIns="0" tIns="0" bIns="0" anchor="t">
            <a:spAutoFit/>
          </a:bodyPr>
          <a:lstStyle/>
          <a:p>
            <a:pPr algn="l">
              <a:lnSpc>
                <a:spcPts val="2088"/>
              </a:lnSpc>
              <a:spcBef>
                <a:spcPts val="0"/>
              </a:spcBef>
              <a:spcAft>
                <a:spcPts val="0"/>
              </a:spcAft>
            </a:pPr>
            <a:r>
              <a:rPr sz="1800" b="1">
                <a:solidFill>
                  <a:srgbClr val="B85B34"/>
                </a:solidFill>
                <a:latin typeface="Arial"/>
              </a:rPr>
              <a:t>Race guard</a:t>
            </a:r>
          </a:p>
        </p:txBody>
      </p:sp>
      <p:sp>
        <p:nvSpPr>
          <p:cNvPr id="19" name="TextBox 18"/>
          <p:cNvSpPr txBox="1"/>
          <p:nvPr/>
        </p:nvSpPr>
        <p:spPr>
          <a:xfrm>
            <a:off x="9194800" y="2794000"/>
            <a:ext cx="2324100" cy="1739900"/>
          </a:xfrm>
          <a:prstGeom prst="rect">
            <a:avLst/>
          </a:prstGeom>
          <a:noFill/>
        </p:spPr>
        <p:txBody>
          <a:bodyPr wrap="none" lIns="0" rIns="0" tIns="0" bIns="0" anchor="t">
            <a:spAutoFit/>
          </a:bodyPr>
          <a:lstStyle/>
          <a:p>
            <a:pPr algn="l">
              <a:lnSpc>
                <a:spcPts val="2088"/>
              </a:lnSpc>
              <a:spcBef>
                <a:spcPts val="0"/>
              </a:spcBef>
              <a:spcAft>
                <a:spcPts val="0"/>
              </a:spcAft>
            </a:pPr>
            <a:r>
              <a:rPr sz="1800" b="0">
                <a:solidFill>
                  <a:srgbClr val="18372F"/>
                </a:solidFill>
                <a:latin typeface="Arial"/>
              </a:rPr>
              <a:t>Abort + revision/key</a:t>
            </a:r>
            <a:br/>
            <a:r>
              <a:rPr sz="1800" b="0">
                <a:solidFill>
                  <a:srgbClr val="18372F"/>
                </a:solidFill>
                <a:latin typeface="Arial"/>
              </a:rPr>
              <a:t>checks reject late</a:t>
            </a:r>
            <a:br/>
            <a:r>
              <a:rPr sz="1800" b="0">
                <a:solidFill>
                  <a:srgbClr val="18372F"/>
                </a:solidFill>
                <a:latin typeface="Arial"/>
              </a:rPr>
              <a:t>responses.</a:t>
            </a:r>
          </a:p>
        </p:txBody>
      </p:sp>
      <p:sp>
        <p:nvSpPr>
          <p:cNvPr id="20" name="TextBox 19"/>
          <p:cNvSpPr txBox="1"/>
          <p:nvPr/>
        </p:nvSpPr>
        <p:spPr>
          <a:xfrm>
            <a:off x="482600" y="4965700"/>
            <a:ext cx="11176000" cy="546100"/>
          </a:xfrm>
          <a:prstGeom prst="rect">
            <a:avLst/>
          </a:prstGeom>
          <a:noFill/>
        </p:spPr>
        <p:txBody>
          <a:bodyPr wrap="none" lIns="0" rIns="0" tIns="0" bIns="0" anchor="t">
            <a:spAutoFit/>
          </a:bodyPr>
          <a:lstStyle/>
          <a:p>
            <a:pPr algn="l">
              <a:lnSpc>
                <a:spcPts val="2088"/>
              </a:lnSpc>
              <a:spcBef>
                <a:spcPts val="0"/>
              </a:spcBef>
              <a:spcAft>
                <a:spcPts val="0"/>
              </a:spcAft>
            </a:pPr>
            <a:r>
              <a:rPr sz="1800" b="1">
                <a:solidFill>
                  <a:srgbClr val="335D49"/>
                </a:solidFill>
                <a:latin typeface="Arial"/>
              </a:rPr>
              <a:t>Shared .d.ts catches compile-time drift, not runtime invalid data.</a:t>
            </a:r>
          </a:p>
        </p:txBody>
      </p:sp>
      <p:sp>
        <p:nvSpPr>
          <p:cNvPr id="21" name="TextBox 20"/>
          <p:cNvSpPr txBox="1"/>
          <p:nvPr/>
        </p:nvSpPr>
        <p:spPr>
          <a:xfrm>
            <a:off x="482600" y="5702300"/>
            <a:ext cx="11176000" cy="431800"/>
          </a:xfrm>
          <a:prstGeom prst="rect">
            <a:avLst/>
          </a:prstGeom>
          <a:noFill/>
        </p:spPr>
        <p:txBody>
          <a:bodyPr wrap="none" lIns="0" rIns="0" tIns="0" bIns="0" anchor="t">
            <a:spAutoFit/>
          </a:bodyPr>
          <a:lstStyle/>
          <a:p>
            <a:pPr algn="l">
              <a:lnSpc>
                <a:spcPts val="1507"/>
              </a:lnSpc>
              <a:spcBef>
                <a:spcPts val="0"/>
              </a:spcBef>
              <a:spcAft>
                <a:spcPts val="0"/>
              </a:spcAft>
            </a:pPr>
            <a:r>
              <a:rPr sz="1300" b="0">
                <a:solidFill>
                  <a:srgbClr val="586A62"/>
                </a:solidFill>
                <a:latin typeface="Arial"/>
              </a:rPr>
              <a:t>use-paged-search.ts · use-assistant.ts · api.ts · packages/contracts/index.d.ts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5F3EC"/>
        </a:solidFill>
        <a:effectLst/>
      </p:bgPr>
    </p:bg>
    <p:spTree>
      <p:nvGrpSpPr>
        <p:cNvPr id="1" name=""/>
        <p:cNvGrpSpPr/>
        <p:nvPr/>
      </p:nvGrpSpPr>
      <p:grpSpPr/>
      <p:sp>
        <p:nvSpPr>
          <p:cNvPr id="2" name="TextBox 1"/>
          <p:cNvSpPr txBox="1"/>
          <p:nvPr/>
        </p:nvSpPr>
        <p:spPr>
          <a:xfrm>
            <a:off x="482600" y="292100"/>
            <a:ext cx="8636000" cy="215900"/>
          </a:xfrm>
          <a:prstGeom prst="rect">
            <a:avLst/>
          </a:prstGeom>
          <a:noFill/>
        </p:spPr>
        <p:txBody>
          <a:bodyPr wrap="none" lIns="0" rIns="0" tIns="0" bIns="0" anchor="t">
            <a:spAutoFit/>
          </a:bodyPr>
          <a:lstStyle/>
          <a:p>
            <a:pPr algn="l">
              <a:lnSpc>
                <a:spcPts val="1160"/>
              </a:lnSpc>
              <a:spcBef>
                <a:spcPts val="0"/>
              </a:spcBef>
              <a:spcAft>
                <a:spcPts val="0"/>
              </a:spcAft>
            </a:pPr>
            <a:r>
              <a:rPr sz="1000" b="1">
                <a:solidFill>
                  <a:srgbClr val="586A62"/>
                </a:solidFill>
                <a:latin typeface="Arial"/>
              </a:rPr>
              <a:t>Q&amp;A BACKUP / CODE MAP</a:t>
            </a:r>
          </a:p>
        </p:txBody>
      </p:sp>
      <p:sp>
        <p:nvSpPr>
          <p:cNvPr id="3" name="TextBox 2"/>
          <p:cNvSpPr txBox="1"/>
          <p:nvPr/>
        </p:nvSpPr>
        <p:spPr>
          <a:xfrm>
            <a:off x="9626600" y="292100"/>
            <a:ext cx="2082800" cy="215900"/>
          </a:xfrm>
          <a:prstGeom prst="rect">
            <a:avLst/>
          </a:prstGeom>
          <a:noFill/>
        </p:spPr>
        <p:txBody>
          <a:bodyPr wrap="none" lIns="0" rIns="0" tIns="0" bIns="0" anchor="t">
            <a:spAutoFit/>
          </a:bodyPr>
          <a:lstStyle/>
          <a:p>
            <a:pPr algn="r">
              <a:lnSpc>
                <a:spcPts val="1160"/>
              </a:lnSpc>
              <a:spcBef>
                <a:spcPts val="0"/>
              </a:spcBef>
              <a:spcAft>
                <a:spcPts val="0"/>
              </a:spcAft>
            </a:pPr>
            <a:r>
              <a:rPr sz="1000" b="1">
                <a:solidFill>
                  <a:srgbClr val="586A62"/>
                </a:solidFill>
                <a:latin typeface="Arial"/>
              </a:rPr>
              <a:t>TÀI + THẮNG</a:t>
            </a:r>
          </a:p>
        </p:txBody>
      </p:sp>
      <p:cxnSp>
        <p:nvCxnSpPr>
          <p:cNvPr id="4" name="Connector 3"/>
          <p:cNvCxnSpPr/>
          <p:nvPr/>
        </p:nvCxnSpPr>
        <p:spPr>
          <a:xfrm>
            <a:off x="482600" y="6311900"/>
            <a:ext cx="112268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82600" y="6464300"/>
            <a:ext cx="10414000" cy="190500"/>
          </a:xfrm>
          <a:prstGeom prst="rect">
            <a:avLst/>
          </a:prstGeom>
          <a:noFill/>
        </p:spPr>
        <p:txBody>
          <a:bodyPr wrap="none" lIns="0" rIns="0" tIns="0" bIns="0" anchor="t">
            <a:spAutoFit/>
          </a:bodyPr>
          <a:lstStyle/>
          <a:p>
            <a:pPr algn="l">
              <a:lnSpc>
                <a:spcPts val="1044"/>
              </a:lnSpc>
              <a:spcBef>
                <a:spcPts val="0"/>
              </a:spcBef>
              <a:spcAft>
                <a:spcPts val="0"/>
              </a:spcAft>
            </a:pPr>
            <a:r>
              <a:rPr sz="900" b="0">
                <a:solidFill>
                  <a:srgbClr val="586A62"/>
                </a:solidFill>
                <a:latin typeface="Arial"/>
              </a:rPr>
              <a:t>EXAMATE / DRAFT / EVIDENCE: 23 OCT 2026</a:t>
            </a:r>
          </a:p>
        </p:txBody>
      </p:sp>
      <p:sp>
        <p:nvSpPr>
          <p:cNvPr id="6" name="TextBox 5"/>
          <p:cNvSpPr txBox="1"/>
          <p:nvPr/>
        </p:nvSpPr>
        <p:spPr>
          <a:xfrm>
            <a:off x="10947400" y="6438900"/>
            <a:ext cx="762000" cy="215900"/>
          </a:xfrm>
          <a:prstGeom prst="rect">
            <a:avLst/>
          </a:prstGeom>
          <a:noFill/>
        </p:spPr>
        <p:txBody>
          <a:bodyPr wrap="none" lIns="0" rIns="0" tIns="0" bIns="0" anchor="t">
            <a:spAutoFit/>
          </a:bodyPr>
          <a:lstStyle/>
          <a:p>
            <a:pPr algn="r">
              <a:lnSpc>
                <a:spcPts val="1160"/>
              </a:lnSpc>
              <a:spcBef>
                <a:spcPts val="0"/>
              </a:spcBef>
              <a:spcAft>
                <a:spcPts val="0"/>
              </a:spcAft>
            </a:pPr>
            <a:r>
              <a:rPr sz="1000" b="0">
                <a:solidFill>
                  <a:srgbClr val="586A62"/>
                </a:solidFill>
                <a:latin typeface="Arial"/>
              </a:rPr>
              <a:t>14 / 14</a:t>
            </a:r>
          </a:p>
        </p:txBody>
      </p:sp>
      <p:sp>
        <p:nvSpPr>
          <p:cNvPr id="7" name="TextBox 6"/>
          <p:cNvSpPr txBox="1"/>
          <p:nvPr/>
        </p:nvSpPr>
        <p:spPr>
          <a:xfrm>
            <a:off x="482600" y="723900"/>
            <a:ext cx="11176000" cy="1054100"/>
          </a:xfrm>
          <a:prstGeom prst="rect">
            <a:avLst/>
          </a:prstGeom>
          <a:noFill/>
        </p:spPr>
        <p:txBody>
          <a:bodyPr wrap="none" lIns="0" rIns="0" tIns="0" bIns="0" anchor="t">
            <a:spAutoFit/>
          </a:bodyPr>
          <a:lstStyle/>
          <a:p>
            <a:pPr algn="l">
              <a:lnSpc>
                <a:spcPts val="3596"/>
              </a:lnSpc>
              <a:spcBef>
                <a:spcPts val="0"/>
              </a:spcBef>
              <a:spcAft>
                <a:spcPts val="0"/>
              </a:spcAft>
            </a:pPr>
            <a:r>
              <a:rPr sz="3100" b="0">
                <a:solidFill>
                  <a:srgbClr val="18372F"/>
                </a:solidFill>
                <a:latin typeface="Georgia"/>
              </a:rPr>
              <a:t>Backup: code and decisions to defend</a:t>
            </a:r>
          </a:p>
        </p:txBody>
      </p:sp>
      <p:sp>
        <p:nvSpPr>
          <p:cNvPr id="8" name="TextBox 7"/>
          <p:cNvSpPr txBox="1"/>
          <p:nvPr/>
        </p:nvSpPr>
        <p:spPr>
          <a:xfrm>
            <a:off x="495300" y="1930400"/>
            <a:ext cx="2235200" cy="3810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B85B34"/>
                </a:solidFill>
                <a:latin typeface="Arial"/>
              </a:rPr>
              <a:t>RAG</a:t>
            </a:r>
          </a:p>
        </p:txBody>
      </p:sp>
      <p:sp>
        <p:nvSpPr>
          <p:cNvPr id="9" name="TextBox 8"/>
          <p:cNvSpPr txBox="1"/>
          <p:nvPr/>
        </p:nvSpPr>
        <p:spPr>
          <a:xfrm>
            <a:off x="2806700" y="1930400"/>
            <a:ext cx="8864600" cy="5969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18372F"/>
                </a:solidFill>
                <a:latin typeface="Arial"/>
              </a:rPr>
              <a:t>document-chunker.ts → rag-retrieval.service.ts → assistant.service.ts</a:t>
            </a:r>
          </a:p>
        </p:txBody>
      </p:sp>
      <p:cxnSp>
        <p:nvCxnSpPr>
          <p:cNvPr id="10" name="Connector 9"/>
          <p:cNvCxnSpPr/>
          <p:nvPr/>
        </p:nvCxnSpPr>
        <p:spPr>
          <a:xfrm>
            <a:off x="495300" y="2616200"/>
            <a:ext cx="112014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95300" y="2794000"/>
            <a:ext cx="2235200" cy="3810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B85B34"/>
                </a:solidFill>
                <a:latin typeface="Arial"/>
              </a:rPr>
              <a:t>Study Coach</a:t>
            </a:r>
          </a:p>
        </p:txBody>
      </p:sp>
      <p:sp>
        <p:nvSpPr>
          <p:cNvPr id="12" name="TextBox 11"/>
          <p:cNvSpPr txBox="1"/>
          <p:nvPr/>
        </p:nvSpPr>
        <p:spPr>
          <a:xfrm>
            <a:off x="2806700" y="2794000"/>
            <a:ext cx="8864600" cy="5969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18372F"/>
                </a:solidFill>
                <a:latin typeface="Arial"/>
              </a:rPr>
              <a:t>study-quiz-validation.ts · study-coach.service.ts · study-flashcards.service.ts</a:t>
            </a:r>
          </a:p>
        </p:txBody>
      </p:sp>
      <p:cxnSp>
        <p:nvCxnSpPr>
          <p:cNvPr id="13" name="Connector 12"/>
          <p:cNvCxnSpPr/>
          <p:nvPr/>
        </p:nvCxnSpPr>
        <p:spPr>
          <a:xfrm>
            <a:off x="495300" y="3479800"/>
            <a:ext cx="112014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5300" y="3657600"/>
            <a:ext cx="2235200" cy="3810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B85B34"/>
                </a:solidFill>
                <a:latin typeface="Arial"/>
              </a:rPr>
              <a:t>Voice + SSE</a:t>
            </a:r>
          </a:p>
        </p:txBody>
      </p:sp>
      <p:sp>
        <p:nvSpPr>
          <p:cNvPr id="15" name="TextBox 14"/>
          <p:cNvSpPr txBox="1"/>
          <p:nvPr/>
        </p:nvSpPr>
        <p:spPr>
          <a:xfrm>
            <a:off x="2806700" y="3657600"/>
            <a:ext cx="8864600" cy="5969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18372F"/>
                </a:solidFill>
                <a:latin typeface="Arial"/>
              </a:rPr>
              <a:t>audio-inspector.ts · local-speech-runtime.ts · assistant-stream.ts</a:t>
            </a:r>
          </a:p>
        </p:txBody>
      </p:sp>
      <p:cxnSp>
        <p:nvCxnSpPr>
          <p:cNvPr id="16" name="Connector 15"/>
          <p:cNvCxnSpPr/>
          <p:nvPr/>
        </p:nvCxnSpPr>
        <p:spPr>
          <a:xfrm>
            <a:off x="495300" y="4343400"/>
            <a:ext cx="112014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95300" y="4521200"/>
            <a:ext cx="2235200" cy="381000"/>
          </a:xfrm>
          <a:prstGeom prst="rect">
            <a:avLst/>
          </a:prstGeom>
          <a:noFill/>
        </p:spPr>
        <p:txBody>
          <a:bodyPr wrap="none" lIns="0" rIns="0" tIns="0" bIns="0" anchor="t">
            <a:spAutoFit/>
          </a:bodyPr>
          <a:lstStyle/>
          <a:p>
            <a:pPr algn="l">
              <a:lnSpc>
                <a:spcPts val="1855"/>
              </a:lnSpc>
              <a:spcBef>
                <a:spcPts val="0"/>
              </a:spcBef>
              <a:spcAft>
                <a:spcPts val="0"/>
              </a:spcAft>
            </a:pPr>
            <a:r>
              <a:rPr sz="1600" b="1">
                <a:solidFill>
                  <a:srgbClr val="B85B34"/>
                </a:solidFill>
                <a:latin typeface="Arial"/>
              </a:rPr>
              <a:t>Auth + AI controls</a:t>
            </a:r>
          </a:p>
        </p:txBody>
      </p:sp>
      <p:sp>
        <p:nvSpPr>
          <p:cNvPr id="18" name="TextBox 17"/>
          <p:cNvSpPr txBox="1"/>
          <p:nvPr/>
        </p:nvSpPr>
        <p:spPr>
          <a:xfrm>
            <a:off x="2806700" y="4521200"/>
            <a:ext cx="8864600" cy="596900"/>
          </a:xfrm>
          <a:prstGeom prst="rect">
            <a:avLst/>
          </a:prstGeom>
          <a:noFill/>
        </p:spPr>
        <p:txBody>
          <a:bodyPr wrap="none" lIns="0" rIns="0" tIns="0" bIns="0" anchor="t">
            <a:spAutoFit/>
          </a:bodyPr>
          <a:lstStyle/>
          <a:p>
            <a:pPr algn="l">
              <a:lnSpc>
                <a:spcPts val="1855"/>
              </a:lnSpc>
              <a:spcBef>
                <a:spcPts val="0"/>
              </a:spcBef>
              <a:spcAft>
                <a:spcPts val="0"/>
              </a:spcAft>
            </a:pPr>
            <a:r>
              <a:rPr sz="1600" b="0">
                <a:solidFill>
                  <a:srgbClr val="18372F"/>
                </a:solidFill>
                <a:latin typeface="Arial"/>
              </a:rPr>
              <a:t>auth.guard.ts · ai-admission.service.ts · ai-usage.service.ts</a:t>
            </a:r>
          </a:p>
        </p:txBody>
      </p:sp>
      <p:cxnSp>
        <p:nvCxnSpPr>
          <p:cNvPr id="19" name="Connector 18"/>
          <p:cNvCxnSpPr/>
          <p:nvPr/>
        </p:nvCxnSpPr>
        <p:spPr>
          <a:xfrm>
            <a:off x="495300" y="5207000"/>
            <a:ext cx="11201400" cy="0"/>
          </a:xfrm>
          <a:prstGeom prst="line">
            <a:avLst/>
          </a:prstGeom>
          <a:ln w="15240">
            <a:solidFill>
              <a:srgbClr val="D7DED5"/>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5300" y="5562600"/>
            <a:ext cx="11201400" cy="546100"/>
          </a:xfrm>
          <a:prstGeom prst="rect">
            <a:avLst/>
          </a:prstGeom>
          <a:noFill/>
        </p:spPr>
        <p:txBody>
          <a:bodyPr wrap="none" lIns="0" rIns="0" tIns="0" bIns="0" anchor="t">
            <a:spAutoFit/>
          </a:bodyPr>
          <a:lstStyle/>
          <a:p>
            <a:pPr algn="l">
              <a:lnSpc>
                <a:spcPts val="2088"/>
              </a:lnSpc>
              <a:spcBef>
                <a:spcPts val="0"/>
              </a:spcBef>
              <a:spcAft>
                <a:spcPts val="0"/>
              </a:spcAft>
            </a:pPr>
            <a:r>
              <a:rPr sz="1800" b="1">
                <a:solidFill>
                  <a:srgbClr val="335D49"/>
                </a:solidFill>
                <a:latin typeface="Arial"/>
              </a:rPr>
              <a:t>Show a function, explain one regression and name one remaining limit.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42D29"/>
      </a:hlink>
      <a:folHlink>
        <a:srgbClr val="142D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ExaMate — AI Academic Workspace</dc:title>
  <dc:subject>A: RAG · C: Structured Study Practice</dc:subject>
  <dc:creator>ExaMate team — Tài and Thắng</dc:creator>
  <cp:keywords>DRAFT; retained evidence; defense; 24 October 2026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